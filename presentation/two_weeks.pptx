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Your heart is a pump made of muscle, and that muscle is built from millions of tiny motors. I write a computer model of those motors and adjust its settings until it pushes exactly as hard, and with the same timing, as muscle we measure in the lab. HCM is a genetic heart disease that makes the heart wall too thick. If my model can copy a diseased heartbeat, I can look inside it and see which tiny motor setting is broken — something you can't see in a real patient. These are the five things I got done in the last two weeks.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Think of a single muscle motor like a tiny hand that grabs a rope and pulls. It moves through a few poses: resting, getting ready, gripping, and pulling. I test models that allow 3, 4, or 6 of these poses. More poses is more realistic but also means more dials to set. My north star is practical: whatever setting makes the diseased muscle stronger, I pass that one number to my labmate Julia, whose model simulates the shape of the entire heart.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Each graph is one heartbeat — force going up as the muscle squeezes, then back down as it relaxes. The black line is what really happened in the lab. The colored lines are my three models trying to copy it. The number e is the error, so smaller is better. The green line — my 6-state model — is almost on top of the black data in both the healthy and the diseased case. The simpler blue and orange models miss the shape, especially where they dip below zero at the start. So the extra detail in the 6-state model earns its keep.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Before hunting for the broken knob, I need to know which knobs even matter. So I turned each one up by 10% and watched what happened to the peak force. A long bar means that knob is powerful; a tiny bar means it barely does anything. The biggest levers were how tightly calcium flips the muscle on, and how stretched the muscle is to begin with. A lot of the fancy new knobs I added barely moved the peak — a clue that they control the timing of the beat, not how strong it is. That sets up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This one is a little detective story. In the last slide this knob — called k_7_1 — looked useless because it didn't change the peak force. But I zoomed in and swept it across a huge range. The left graph shows peak force: flat, flat, flat, then a sudden cliff. The right graph shows how long the muscle takes to relax: it climbs steadily. So the knob isn't useless at all — it controls how quickly the muscle lets go after squeezing, which is exactly the part of the heartbeat that goes wrong in HCM. I'd mislabeled it before; now I know what it really does.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Good results mean nothing if the physics underneath is wrong, so I spent a couple days bug-hunting. First: there's a stretchy protein called titin that acts like a rubber band. My code made it push back when the muscle got shorter — that's not real, and it created negative force, which is impossible. Real rubber bands only pull when you stretch them. Second: the model's resting length was set wrong, so I reset it to match the lab. Third: I added a realistic snap-back where a motor lets go if it's stretched too far — and that one fix made the diseased-muscle fit ten times more accurate. I also found a file that had gone missing in an earlier cleanup that had quietly broken the whole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The muscle contracts because calcium floods in and flips a switch. How fast that calcium arrives is part of the recipe I feed the model. I'd been using a version that turned on too abruptly. When I gave the calcium a more realistic, gentler rise and let the muscle settle first, the green curve snapped almost perfectly onto the black data — the error dropped by about half in both cases. Same model, better instructions. Feeding the model an accurate description of the experiment matters as much as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Last check for the two weeks — is my model's squeeze happening at the exact right moment relative to the calcium signal? I slid the model's whole force curve a little earlier and later in time and measured the error at each shift. The bottom of the U is the best match. It landed at about minus 15 thousandths of a second, which tells me the model's force is rising just a touch too early. It's a tiny amount — about blink-speed — but now it's documented, and I know a small timing tweak could make the fit even better.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Here's the honest part, and it's actually the most important slide. My dream result was to say HCM is caused by exactly this one setting turned up exactly this much, and hand Julia that number. But when I restart the computer's search from different starting guesses, it finds different combinations of settings that all copy the heartbeat about equally well. It's like being told two numbers add to ten — could be four and six, could be three and seven; one equation isn't enough to know. My model has more knobs than a single heartbeat can pin down. So the grown-up, scientific answer is: not yet. I shouldn't claim one culprit until I add more data or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To wrap up — the good news is real. The 6-state model fits both the healthy and diseased heartbeats better than anything simpler, the underlying physics is now correct, and I understand what every knob does. The next step is to run hundreds of fits at once on a computing cluster to figure out which settings are truly pinned down, and to add more real data so the model can only give one answer. Once it does, that answer goes into Julia's whole-heart model. So in two weeks I went from a model with hidden bugs to one I actually trust — and I know exactly what to do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914400"/>
            <a:ext cx="201168" cy="640080"/>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868680"/>
            <a:ext cx="10058400" cy="457200"/>
          </a:xfrm>
          <a:prstGeom prst="rect">
            <a:avLst/>
          </a:prstGeom>
          <a:noFill/>
        </p:spPr>
        <p:txBody>
          <a:bodyPr wrap="square" anchor="t" lIns="0" rIns="0" tIns="0" bIns="0">
            <a:spAutoFit/>
          </a:bodyPr>
          <a:lstStyle/>
          <a:p>
            <a:pPr algn="l">
              <a:lnSpc>
                <a:spcPct val="105000"/>
              </a:lnSpc>
              <a:spcBef>
                <a:spcPts val="0"/>
              </a:spcBef>
              <a:spcAft>
                <a:spcPts val="600"/>
              </a:spcAft>
            </a:pPr>
            <a:r>
              <a:rPr sz="1200" b="1" i="0">
                <a:solidFill>
                  <a:srgbClr val="0F7D7D"/>
                </a:solidFill>
                <a:latin typeface="Calibri"/>
              </a:rPr>
              <a:t>VANDER ROEST LAB · RESEARCH UPDATE · JULY 23, 2026</a:t>
            </a:r>
          </a:p>
        </p:txBody>
      </p:sp>
      <p:sp>
        <p:nvSpPr>
          <p:cNvPr id="5" name="TextBox 4"/>
          <p:cNvSpPr txBox="1"/>
          <p:nvPr/>
        </p:nvSpPr>
        <p:spPr>
          <a:xfrm>
            <a:off x="1115568" y="1554480"/>
            <a:ext cx="10058400" cy="1645920"/>
          </a:xfrm>
          <a:prstGeom prst="rect">
            <a:avLst/>
          </a:prstGeom>
          <a:noFill/>
        </p:spPr>
        <p:txBody>
          <a:bodyPr wrap="square" anchor="t" lIns="0" rIns="0" tIns="0" bIns="0">
            <a:spAutoFit/>
          </a:bodyPr>
          <a:lstStyle/>
          <a:p>
            <a:pPr algn="l">
              <a:lnSpc>
                <a:spcPct val="102000"/>
              </a:lnSpc>
              <a:spcBef>
                <a:spcPts val="0"/>
              </a:spcBef>
              <a:spcAft>
                <a:spcPts val="600"/>
              </a:spcAft>
            </a:pPr>
            <a:r>
              <a:rPr sz="4000" b="1" i="0">
                <a:solidFill>
                  <a:srgbClr val="16232F"/>
                </a:solidFill>
                <a:latin typeface="Calibri"/>
              </a:rPr>
              <a:t>Two weeks of teaching a computer</a:t>
            </a:r>
          </a:p>
          <a:p>
            <a:pPr algn="l">
              <a:lnSpc>
                <a:spcPct val="102000"/>
              </a:lnSpc>
              <a:spcBef>
                <a:spcPts val="0"/>
              </a:spcBef>
              <a:spcAft>
                <a:spcPts val="600"/>
              </a:spcAft>
            </a:pPr>
            <a:r>
              <a:rPr sz="4000" b="1" i="0">
                <a:solidFill>
                  <a:srgbClr val="16232F"/>
                </a:solidFill>
                <a:latin typeface="Calibri"/>
              </a:rPr>
              <a:t>how a heart muscle squeezes</a:t>
            </a:r>
          </a:p>
        </p:txBody>
      </p:sp>
      <p:sp>
        <p:nvSpPr>
          <p:cNvPr id="6" name="TextBox 5"/>
          <p:cNvSpPr txBox="1"/>
          <p:nvPr/>
        </p:nvSpPr>
        <p:spPr>
          <a:xfrm>
            <a:off x="1143000" y="3337560"/>
            <a:ext cx="9509760" cy="1280160"/>
          </a:xfrm>
          <a:prstGeom prst="rect">
            <a:avLst/>
          </a:prstGeom>
          <a:noFill/>
        </p:spPr>
        <p:txBody>
          <a:bodyPr wrap="square" anchor="t" lIns="0" rIns="0" tIns="0" bIns="0">
            <a:spAutoFit/>
          </a:bodyPr>
          <a:lstStyle/>
          <a:p>
            <a:pPr algn="l">
              <a:lnSpc>
                <a:spcPct val="120000"/>
              </a:lnSpc>
              <a:spcBef>
                <a:spcPts val="0"/>
              </a:spcBef>
              <a:spcAft>
                <a:spcPts val="600"/>
              </a:spcAft>
            </a:pPr>
            <a:r>
              <a:rPr sz="1500" b="0" i="0">
                <a:solidFill>
                  <a:srgbClr val="5B6B78"/>
                </a:solidFill>
                <a:latin typeface="Calibri"/>
              </a:rPr>
              <a:t>I build a math model of one unit of heart muscle and tune it until it contracts like real lab data. The goal: find </a:t>
            </a:r>
            <a:r>
              <a:rPr sz="1500" b="1" i="0">
                <a:solidFill>
                  <a:srgbClr val="0F7D7D"/>
                </a:solidFill>
                <a:latin typeface="Calibri"/>
              </a:rPr>
              <a:t>which molecular knob</a:t>
            </a:r>
            <a:r>
              <a:rPr sz="1500" b="0" i="0">
                <a:solidFill>
                  <a:srgbClr val="5B6B78"/>
                </a:solidFill>
                <a:latin typeface="Calibri"/>
              </a:rPr>
              <a:t> is turned wrong in </a:t>
            </a:r>
            <a:r>
              <a:rPr sz="1500" b="1" i="0">
                <a:solidFill>
                  <a:srgbClr val="D8503A"/>
                </a:solidFill>
                <a:latin typeface="Calibri"/>
              </a:rPr>
              <a:t>HCM</a:t>
            </a:r>
            <a:r>
              <a:rPr sz="1500" b="0" i="0">
                <a:solidFill>
                  <a:srgbClr val="5B6B78"/>
                </a:solidFill>
                <a:latin typeface="Calibri"/>
              </a:rPr>
              <a:t> — a disease that makes the heart wall too thick and stiff.</a:t>
            </a:r>
          </a:p>
        </p:txBody>
      </p:sp>
      <p:sp>
        <p:nvSpPr>
          <p:cNvPr id="7" name="Rounded Rectangle 6"/>
          <p:cNvSpPr/>
          <p:nvPr/>
        </p:nvSpPr>
        <p:spPr>
          <a:xfrm>
            <a:off x="1143000" y="4709160"/>
            <a:ext cx="2176272" cy="384048"/>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4791456"/>
            <a:ext cx="2176272" cy="274320"/>
          </a:xfrm>
          <a:prstGeom prst="rect">
            <a:avLst/>
          </a:prstGeom>
          <a:noFill/>
        </p:spPr>
        <p:txBody>
          <a:bodyPr wrap="square" anchor="t" lIns="0" rIns="0" tIns="0" bIns="0">
            <a:spAutoFit/>
          </a:bodyPr>
          <a:lstStyle/>
          <a:p>
            <a:pPr algn="ctr">
              <a:lnSpc>
                <a:spcPct val="105000"/>
              </a:lnSpc>
              <a:spcBef>
                <a:spcPts val="0"/>
              </a:spcBef>
              <a:spcAft>
                <a:spcPts val="600"/>
              </a:spcAft>
            </a:pPr>
            <a:r>
              <a:rPr sz="1100" b="1" i="0">
                <a:solidFill>
                  <a:srgbClr val="0F7D7D"/>
                </a:solidFill>
                <a:latin typeface="Calibri"/>
              </a:rPr>
              <a:t>Sensitivity analysis</a:t>
            </a:r>
          </a:p>
        </p:txBody>
      </p:sp>
      <p:sp>
        <p:nvSpPr>
          <p:cNvPr id="9" name="Rounded Rectangle 8"/>
          <p:cNvSpPr/>
          <p:nvPr/>
        </p:nvSpPr>
        <p:spPr>
          <a:xfrm>
            <a:off x="3465576" y="4709160"/>
            <a:ext cx="1997049" cy="384048"/>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5576" y="4791456"/>
            <a:ext cx="1997049" cy="274320"/>
          </a:xfrm>
          <a:prstGeom prst="rect">
            <a:avLst/>
          </a:prstGeom>
          <a:noFill/>
        </p:spPr>
        <p:txBody>
          <a:bodyPr wrap="square" anchor="t" lIns="0" rIns="0" tIns="0" bIns="0">
            <a:spAutoFit/>
          </a:bodyPr>
          <a:lstStyle/>
          <a:p>
            <a:pPr algn="ctr">
              <a:lnSpc>
                <a:spcPct val="105000"/>
              </a:lnSpc>
              <a:spcBef>
                <a:spcPts val="0"/>
              </a:spcBef>
              <a:spcAft>
                <a:spcPts val="600"/>
              </a:spcAft>
            </a:pPr>
            <a:r>
              <a:rPr sz="1100" b="1" i="0">
                <a:solidFill>
                  <a:srgbClr val="0F7D7D"/>
                </a:solidFill>
                <a:latin typeface="Calibri"/>
              </a:rPr>
              <a:t>A physics bug hunt</a:t>
            </a:r>
          </a:p>
        </p:txBody>
      </p:sp>
      <p:sp>
        <p:nvSpPr>
          <p:cNvPr id="11" name="Rounded Rectangle 10"/>
          <p:cNvSpPr/>
          <p:nvPr/>
        </p:nvSpPr>
        <p:spPr>
          <a:xfrm>
            <a:off x="5608929" y="4709160"/>
            <a:ext cx="2176272" cy="384048"/>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08929" y="4791456"/>
            <a:ext cx="2176272" cy="274320"/>
          </a:xfrm>
          <a:prstGeom prst="rect">
            <a:avLst/>
          </a:prstGeom>
          <a:noFill/>
        </p:spPr>
        <p:txBody>
          <a:bodyPr wrap="square" anchor="t" lIns="0" rIns="0" tIns="0" bIns="0">
            <a:spAutoFit/>
          </a:bodyPr>
          <a:lstStyle/>
          <a:p>
            <a:pPr algn="ctr">
              <a:lnSpc>
                <a:spcPct val="105000"/>
              </a:lnSpc>
              <a:spcBef>
                <a:spcPts val="0"/>
              </a:spcBef>
              <a:spcAft>
                <a:spcPts val="600"/>
              </a:spcAft>
            </a:pPr>
            <a:r>
              <a:rPr sz="1100" b="1" i="0">
                <a:solidFill>
                  <a:srgbClr val="0F7D7D"/>
                </a:solidFill>
                <a:latin typeface="Calibri"/>
              </a:rPr>
              <a:t>A rebuilt foundation</a:t>
            </a:r>
          </a:p>
        </p:txBody>
      </p:sp>
      <p:sp>
        <p:nvSpPr>
          <p:cNvPr id="13" name="Rounded Rectangle 12"/>
          <p:cNvSpPr/>
          <p:nvPr/>
        </p:nvSpPr>
        <p:spPr>
          <a:xfrm>
            <a:off x="7931505" y="4709160"/>
            <a:ext cx="2713939" cy="384048"/>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1505" y="4791456"/>
            <a:ext cx="2713939" cy="274320"/>
          </a:xfrm>
          <a:prstGeom prst="rect">
            <a:avLst/>
          </a:prstGeom>
          <a:noFill/>
        </p:spPr>
        <p:txBody>
          <a:bodyPr wrap="square" anchor="t" lIns="0" rIns="0" tIns="0" bIns="0">
            <a:spAutoFit/>
          </a:bodyPr>
          <a:lstStyle/>
          <a:p>
            <a:pPr algn="ctr">
              <a:lnSpc>
                <a:spcPct val="105000"/>
              </a:lnSpc>
              <a:spcBef>
                <a:spcPts val="0"/>
              </a:spcBef>
              <a:spcAft>
                <a:spcPts val="600"/>
              </a:spcAft>
            </a:pPr>
            <a:r>
              <a:rPr sz="1100" b="1" i="0">
                <a:solidFill>
                  <a:srgbClr val="0F7D7D"/>
                </a:solidFill>
                <a:latin typeface="Calibri"/>
              </a:rPr>
              <a:t>A better experiment recipe</a:t>
            </a:r>
          </a:p>
        </p:txBody>
      </p:sp>
      <p:sp>
        <p:nvSpPr>
          <p:cNvPr id="15" name="Rounded Rectangle 14"/>
          <p:cNvSpPr/>
          <p:nvPr/>
        </p:nvSpPr>
        <p:spPr>
          <a:xfrm>
            <a:off x="10791748" y="4709160"/>
            <a:ext cx="1728216" cy="384048"/>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91748" y="4791456"/>
            <a:ext cx="1728216" cy="274320"/>
          </a:xfrm>
          <a:prstGeom prst="rect">
            <a:avLst/>
          </a:prstGeom>
          <a:noFill/>
        </p:spPr>
        <p:txBody>
          <a:bodyPr wrap="square" anchor="t" lIns="0" rIns="0" tIns="0" bIns="0">
            <a:spAutoFit/>
          </a:bodyPr>
          <a:lstStyle/>
          <a:p>
            <a:pPr algn="ctr">
              <a:lnSpc>
                <a:spcPct val="105000"/>
              </a:lnSpc>
              <a:spcBef>
                <a:spcPts val="0"/>
              </a:spcBef>
              <a:spcAft>
                <a:spcPts val="600"/>
              </a:spcAft>
            </a:pPr>
            <a:r>
              <a:rPr sz="1100" b="1" i="0">
                <a:solidFill>
                  <a:srgbClr val="0F7D7D"/>
                </a:solidFill>
                <a:latin typeface="Calibri"/>
              </a:rPr>
              <a:t>An honest catch</a:t>
            </a:r>
          </a:p>
        </p:txBody>
      </p:sp>
      <p:sp>
        <p:nvSpPr>
          <p:cNvPr id="17" name="TextBox 16"/>
          <p:cNvSpPr txBox="1"/>
          <p:nvPr/>
        </p:nvSpPr>
        <p:spPr>
          <a:xfrm>
            <a:off x="1143000" y="5669280"/>
            <a:ext cx="10058400" cy="365760"/>
          </a:xfrm>
          <a:prstGeom prst="rect">
            <a:avLst/>
          </a:prstGeom>
          <a:noFill/>
        </p:spPr>
        <p:txBody>
          <a:bodyPr wrap="square" anchor="t" lIns="0" rIns="0" tIns="0" bIns="0">
            <a:spAutoFit/>
          </a:bodyPr>
          <a:lstStyle/>
          <a:p>
            <a:pPr algn="l">
              <a:lnSpc>
                <a:spcPct val="105000"/>
              </a:lnSpc>
              <a:spcBef>
                <a:spcPts val="0"/>
              </a:spcBef>
              <a:spcAft>
                <a:spcPts val="600"/>
              </a:spcAft>
            </a:pPr>
            <a:r>
              <a:rPr sz="1200" b="0" i="0">
                <a:solidFill>
                  <a:srgbClr val="5B6B78"/>
                </a:solidFill>
                <a:latin typeface="Calibri"/>
              </a:rPr>
              <a:t>Tom Tan · Biomedical Engineering · University of Michigan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THE BIG PICTURE · WHY THIS MATTERS</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One tiny muscle model → a whole-heart simulation</a:t>
            </a:r>
          </a:p>
        </p:txBody>
      </p:sp>
      <p:sp>
        <p:nvSpPr>
          <p:cNvPr id="5" name="Rounded Rectangle 4"/>
          <p:cNvSpPr/>
          <p:nvPr/>
        </p:nvSpPr>
        <p:spPr>
          <a:xfrm>
            <a:off x="777240" y="1874519"/>
            <a:ext cx="3456432" cy="246888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74519"/>
            <a:ext cx="54864" cy="2468880"/>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2039111"/>
            <a:ext cx="2999232"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The problem</a:t>
            </a:r>
          </a:p>
        </p:txBody>
      </p:sp>
      <p:sp>
        <p:nvSpPr>
          <p:cNvPr id="8" name="TextBox 7"/>
          <p:cNvSpPr txBox="1"/>
          <p:nvPr/>
        </p:nvSpPr>
        <p:spPr>
          <a:xfrm>
            <a:off x="1033272" y="2441447"/>
            <a:ext cx="2999232" cy="178308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8"/>
                </a:solidFill>
                <a:latin typeface="Calibri"/>
              </a:rPr>
              <a:t>In </a:t>
            </a:r>
            <a:r>
              <a:rPr sz="1250" b="1" i="0">
                <a:solidFill>
                  <a:srgbClr val="D8503A"/>
                </a:solidFill>
                <a:latin typeface="Calibri"/>
              </a:rPr>
              <a:t>HCM</a:t>
            </a:r>
            <a:r>
              <a:rPr sz="1250" b="0" i="0">
                <a:solidFill>
                  <a:srgbClr val="5B6B78"/>
                </a:solidFill>
                <a:latin typeface="Calibri"/>
              </a:rPr>
              <a:t> the heart squeezes too hard and relaxes badly. Doctors see the thick wall, but not the broken molecule causing it.</a:t>
            </a:r>
          </a:p>
        </p:txBody>
      </p:sp>
      <p:sp>
        <p:nvSpPr>
          <p:cNvPr id="9" name="Rounded Rectangle 8"/>
          <p:cNvSpPr/>
          <p:nvPr/>
        </p:nvSpPr>
        <p:spPr>
          <a:xfrm>
            <a:off x="4462272" y="1874519"/>
            <a:ext cx="3456432" cy="246888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62272" y="1874519"/>
            <a:ext cx="54864" cy="2468880"/>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4" y="2039111"/>
            <a:ext cx="2999232"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My job</a:t>
            </a:r>
          </a:p>
        </p:txBody>
      </p:sp>
      <p:sp>
        <p:nvSpPr>
          <p:cNvPr id="12" name="TextBox 11"/>
          <p:cNvSpPr txBox="1"/>
          <p:nvPr/>
        </p:nvSpPr>
        <p:spPr>
          <a:xfrm>
            <a:off x="4718304" y="2441447"/>
            <a:ext cx="2999232" cy="178308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8"/>
                </a:solidFill>
                <a:latin typeface="Calibri"/>
              </a:rPr>
              <a:t>Find the crossbridge-level setting that drives the extra force, then hand that number to Julia's whole-heart geometry model as an input.</a:t>
            </a:r>
          </a:p>
        </p:txBody>
      </p:sp>
      <p:sp>
        <p:nvSpPr>
          <p:cNvPr id="13" name="Rounded Rectangle 12"/>
          <p:cNvSpPr/>
          <p:nvPr/>
        </p:nvSpPr>
        <p:spPr>
          <a:xfrm>
            <a:off x="8147304" y="1874519"/>
            <a:ext cx="3456432" cy="246888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47304" y="1874519"/>
            <a:ext cx="54864" cy="2468880"/>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03336" y="2039111"/>
            <a:ext cx="2999232"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The method</a:t>
            </a:r>
          </a:p>
        </p:txBody>
      </p:sp>
      <p:sp>
        <p:nvSpPr>
          <p:cNvPr id="16" name="TextBox 15"/>
          <p:cNvSpPr txBox="1"/>
          <p:nvPr/>
        </p:nvSpPr>
        <p:spPr>
          <a:xfrm>
            <a:off x="8403336" y="2441447"/>
            <a:ext cx="2999232" cy="1783080"/>
          </a:xfrm>
          <a:prstGeom prst="rect">
            <a:avLst/>
          </a:prstGeom>
          <a:noFill/>
        </p:spPr>
        <p:txBody>
          <a:bodyPr wrap="square" anchor="t" lIns="0" rIns="0" tIns="0" bIns="0">
            <a:spAutoFit/>
          </a:bodyPr>
          <a:lstStyle/>
          <a:p>
            <a:pPr algn="l">
              <a:lnSpc>
                <a:spcPct val="108000"/>
              </a:lnSpc>
              <a:spcBef>
                <a:spcPts val="0"/>
              </a:spcBef>
              <a:spcAft>
                <a:spcPts val="400"/>
              </a:spcAft>
            </a:pPr>
            <a:r>
              <a:rPr sz="1250" b="0" i="0">
                <a:solidFill>
                  <a:srgbClr val="5B6B78"/>
                </a:solidFill>
                <a:latin typeface="Calibri"/>
              </a:rPr>
              <a:t>Compare models of increasing detail (3, 4, and 6 “states”) and let the computer fit each to real </a:t>
            </a:r>
            <a:r>
              <a:rPr sz="1250" b="1" i="0">
                <a:solidFill>
                  <a:srgbClr val="16232F"/>
                </a:solidFill>
                <a:latin typeface="Calibri"/>
              </a:rPr>
              <a:t>control</a:t>
            </a:r>
            <a:r>
              <a:rPr sz="1250" b="0" i="0">
                <a:solidFill>
                  <a:srgbClr val="5B6B78"/>
                </a:solidFill>
                <a:latin typeface="Calibri"/>
              </a:rPr>
              <a:t> vs </a:t>
            </a:r>
            <a:r>
              <a:rPr sz="1250" b="1" i="0">
                <a:solidFill>
                  <a:srgbClr val="D8503A"/>
                </a:solidFill>
                <a:latin typeface="Calibri"/>
              </a:rPr>
              <a:t>HCM</a:t>
            </a:r>
            <a:r>
              <a:rPr sz="1250" b="0" i="0">
                <a:solidFill>
                  <a:srgbClr val="5B6B78"/>
                </a:solidFill>
                <a:latin typeface="Calibri"/>
              </a:rPr>
              <a:t> heartbeat data.</a:t>
            </a:r>
          </a:p>
        </p:txBody>
      </p:sp>
      <p:sp>
        <p:nvSpPr>
          <p:cNvPr id="17" name="TextBox 16"/>
          <p:cNvSpPr txBox="1"/>
          <p:nvPr/>
        </p:nvSpPr>
        <p:spPr>
          <a:xfrm>
            <a:off x="822960" y="4663440"/>
            <a:ext cx="10515600" cy="822960"/>
          </a:xfrm>
          <a:prstGeom prst="rect">
            <a:avLst/>
          </a:prstGeom>
          <a:noFill/>
        </p:spPr>
        <p:txBody>
          <a:bodyPr wrap="square" anchor="t" lIns="0" rIns="0" tIns="0" bIns="0">
            <a:spAutoFit/>
          </a:bodyPr>
          <a:lstStyle/>
          <a:p>
            <a:pPr algn="l">
              <a:lnSpc>
                <a:spcPct val="105000"/>
              </a:lnSpc>
              <a:spcBef>
                <a:spcPts val="0"/>
              </a:spcBef>
              <a:spcAft>
                <a:spcPts val="600"/>
              </a:spcAft>
            </a:pPr>
            <a:r>
              <a:rPr sz="1200" b="0" i="1">
                <a:solidFill>
                  <a:srgbClr val="5B6B78"/>
                </a:solidFill>
                <a:latin typeface="Calibri"/>
              </a:rPr>
              <a:t>A “state” = one pose a muscle motor can be in (resting, primed, gripping, pulling). More states = more realistic, but more knobs to tune.</a:t>
            </a:r>
          </a:p>
        </p:txBody>
      </p:sp>
      <p:sp>
        <p:nvSpPr>
          <p:cNvPr id="18" name="Rectangle 17"/>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01 </a:t>
            </a:r>
            <a:r>
              <a:rPr sz="1100" b="0" i="0">
                <a:solidFill>
                  <a:srgbClr val="5B6B78"/>
                </a:solidFill>
                <a:latin typeface="Calibri"/>
              </a:rPr>
              <a:t>/ 10</a:t>
            </a:r>
          </a:p>
        </p:txBody>
      </p:sp>
      <p:sp>
        <p:nvSpPr>
          <p:cNvPr id="20" name="TextBox 19"/>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RESULT · THE MODEL COMPARISON</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The 6-state model wins in healthy and diseased muscle</a:t>
            </a:r>
          </a:p>
        </p:txBody>
      </p:sp>
      <p:sp>
        <p:nvSpPr>
          <p:cNvPr id="5" name="Rounded Rectangle 4"/>
          <p:cNvSpPr/>
          <p:nvPr/>
        </p:nvSpPr>
        <p:spPr>
          <a:xfrm>
            <a:off x="1149371" y="1685290"/>
            <a:ext cx="4467818" cy="339598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ts_overlay_control.png"/>
          <p:cNvPicPr>
            <a:picLocks noChangeAspect="1"/>
          </p:cNvPicPr>
          <p:nvPr/>
        </p:nvPicPr>
        <p:blipFill>
          <a:blip r:embed="rId2"/>
          <a:stretch>
            <a:fillRect/>
          </a:stretch>
        </p:blipFill>
        <p:spPr>
          <a:xfrm>
            <a:off x="1155721" y="1691640"/>
            <a:ext cx="4455118" cy="3383280"/>
          </a:xfrm>
          <a:prstGeom prst="rect">
            <a:avLst/>
          </a:prstGeom>
        </p:spPr>
      </p:pic>
      <p:sp>
        <p:nvSpPr>
          <p:cNvPr id="7" name="Rounded Rectangle 6"/>
          <p:cNvSpPr/>
          <p:nvPr/>
        </p:nvSpPr>
        <p:spPr>
          <a:xfrm>
            <a:off x="6626451" y="1685290"/>
            <a:ext cx="4486458" cy="339598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its_overlay_HCM.png"/>
          <p:cNvPicPr>
            <a:picLocks noChangeAspect="1"/>
          </p:cNvPicPr>
          <p:nvPr/>
        </p:nvPicPr>
        <p:blipFill>
          <a:blip r:embed="rId3"/>
          <a:stretch>
            <a:fillRect/>
          </a:stretch>
        </p:blipFill>
        <p:spPr>
          <a:xfrm>
            <a:off x="6632801" y="1691640"/>
            <a:ext cx="4473758" cy="3383280"/>
          </a:xfrm>
          <a:prstGeom prst="rect">
            <a:avLst/>
          </a:prstGeom>
        </p:spPr>
      </p:pic>
      <p:sp>
        <p:nvSpPr>
          <p:cNvPr id="9" name="TextBox 8"/>
          <p:cNvSpPr txBox="1"/>
          <p:nvPr/>
        </p:nvSpPr>
        <p:spPr>
          <a:xfrm>
            <a:off x="777240" y="5029200"/>
            <a:ext cx="5212080" cy="320040"/>
          </a:xfrm>
          <a:prstGeom prst="rect">
            <a:avLst/>
          </a:prstGeom>
          <a:noFill/>
        </p:spPr>
        <p:txBody>
          <a:bodyPr wrap="square" anchor="t" lIns="0" rIns="0" tIns="0" bIns="0">
            <a:spAutoFit/>
          </a:bodyPr>
          <a:lstStyle/>
          <a:p>
            <a:pPr algn="ctr">
              <a:lnSpc>
                <a:spcPct val="105000"/>
              </a:lnSpc>
              <a:spcBef>
                <a:spcPts val="0"/>
              </a:spcBef>
              <a:spcAft>
                <a:spcPts val="600"/>
              </a:spcAft>
            </a:pPr>
            <a:r>
              <a:rPr sz="1050" b="0" i="0">
                <a:solidFill>
                  <a:srgbClr val="5B6B78"/>
                </a:solidFill>
                <a:latin typeface="Calibri"/>
              </a:rPr>
              <a:t>Healthy (control) heartbeat</a:t>
            </a:r>
          </a:p>
        </p:txBody>
      </p:sp>
      <p:sp>
        <p:nvSpPr>
          <p:cNvPr id="10" name="TextBox 9"/>
          <p:cNvSpPr txBox="1"/>
          <p:nvPr/>
        </p:nvSpPr>
        <p:spPr>
          <a:xfrm>
            <a:off x="6309360" y="5029200"/>
            <a:ext cx="5120640" cy="320040"/>
          </a:xfrm>
          <a:prstGeom prst="rect">
            <a:avLst/>
          </a:prstGeom>
          <a:noFill/>
        </p:spPr>
        <p:txBody>
          <a:bodyPr wrap="square" anchor="t" lIns="0" rIns="0" tIns="0" bIns="0">
            <a:spAutoFit/>
          </a:bodyPr>
          <a:lstStyle/>
          <a:p>
            <a:pPr algn="ctr">
              <a:lnSpc>
                <a:spcPct val="105000"/>
              </a:lnSpc>
              <a:spcBef>
                <a:spcPts val="0"/>
              </a:spcBef>
              <a:spcAft>
                <a:spcPts val="600"/>
              </a:spcAft>
            </a:pPr>
            <a:r>
              <a:rPr sz="1050" b="0" i="0">
                <a:solidFill>
                  <a:srgbClr val="5B6B78"/>
                </a:solidFill>
                <a:latin typeface="Calibri"/>
              </a:rPr>
              <a:t>Diseased (HCM) heartbeat</a:t>
            </a:r>
          </a:p>
        </p:txBody>
      </p:sp>
      <p:sp>
        <p:nvSpPr>
          <p:cNvPr id="11" name="TextBox 10"/>
          <p:cNvSpPr txBox="1"/>
          <p:nvPr/>
        </p:nvSpPr>
        <p:spPr>
          <a:xfrm>
            <a:off x="822960" y="5440680"/>
            <a:ext cx="10515600" cy="822960"/>
          </a:xfrm>
          <a:prstGeom prst="rect">
            <a:avLst/>
          </a:prstGeom>
          <a:noFill/>
        </p:spPr>
        <p:txBody>
          <a:bodyPr wrap="square" anchor="t" lIns="0" rIns="0" tIns="0" bIns="0">
            <a:spAutoFit/>
          </a:bodyPr>
          <a:lstStyle/>
          <a:p>
            <a:pPr algn="l">
              <a:lnSpc>
                <a:spcPct val="110000"/>
              </a:lnSpc>
              <a:spcBef>
                <a:spcPts val="0"/>
              </a:spcBef>
              <a:spcAft>
                <a:spcPts val="600"/>
              </a:spcAft>
            </a:pPr>
            <a:r>
              <a:rPr sz="1200" b="0" i="0">
                <a:solidFill>
                  <a:srgbClr val="5B6B78"/>
                </a:solidFill>
                <a:latin typeface="Calibri"/>
              </a:rPr>
              <a:t>Black = real lab data; each colored curve is a model's best attempt. </a:t>
            </a:r>
            <a:r>
              <a:rPr sz="1200" b="1" i="0">
                <a:solidFill>
                  <a:srgbClr val="16232F"/>
                </a:solidFill>
                <a:latin typeface="Calibri"/>
              </a:rPr>
              <a:t>Lower “e” = closer to reality.</a:t>
            </a:r>
            <a:r>
              <a:rPr sz="1200" b="0" i="0">
                <a:solidFill>
                  <a:srgbClr val="5B6B78"/>
                </a:solidFill>
                <a:latin typeface="Calibri"/>
              </a:rPr>
              <a:t> The green 6-state curve hugs the data far better than the 3-state (blue) and 4-state (orange).</a:t>
            </a:r>
          </a:p>
        </p:txBody>
      </p:sp>
      <p:sp>
        <p:nvSpPr>
          <p:cNvPr id="12" name="Rectangle 11"/>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02 </a:t>
            </a:r>
            <a:r>
              <a:rPr sz="1100" b="0" i="0">
                <a:solidFill>
                  <a:srgbClr val="5B6B78"/>
                </a:solidFill>
                <a:latin typeface="Calibri"/>
              </a:rPr>
              <a:t>/ 10</a:t>
            </a:r>
          </a:p>
        </p:txBody>
      </p:sp>
      <p:sp>
        <p:nvSpPr>
          <p:cNvPr id="14" name="TextBox 13"/>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JULY 7 · SENSITIVITY ANALYSIS</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Which knobs actually change the force?</a:t>
            </a:r>
          </a:p>
        </p:txBody>
      </p:sp>
      <p:sp>
        <p:nvSpPr>
          <p:cNvPr id="5" name="Rounded Rectangle 4"/>
          <p:cNvSpPr/>
          <p:nvPr/>
        </p:nvSpPr>
        <p:spPr>
          <a:xfrm>
            <a:off x="1206723" y="1639570"/>
            <a:ext cx="4170234" cy="449326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nsitivity_all.png"/>
          <p:cNvPicPr>
            <a:picLocks noChangeAspect="1"/>
          </p:cNvPicPr>
          <p:nvPr/>
        </p:nvPicPr>
        <p:blipFill>
          <a:blip r:embed="rId2"/>
          <a:stretch>
            <a:fillRect/>
          </a:stretch>
        </p:blipFill>
        <p:spPr>
          <a:xfrm>
            <a:off x="1213073" y="1645920"/>
            <a:ext cx="4157534" cy="4480560"/>
          </a:xfrm>
          <a:prstGeom prst="rect">
            <a:avLst/>
          </a:prstGeom>
        </p:spPr>
      </p:pic>
      <p:sp>
        <p:nvSpPr>
          <p:cNvPr id="7" name="TextBox 6"/>
          <p:cNvSpPr txBox="1"/>
          <p:nvPr/>
        </p:nvSpPr>
        <p:spPr>
          <a:xfrm>
            <a:off x="6126480" y="1828800"/>
            <a:ext cx="5394960" cy="1097280"/>
          </a:xfrm>
          <a:prstGeom prst="rect">
            <a:avLst/>
          </a:prstGeom>
          <a:noFill/>
        </p:spPr>
        <p:txBody>
          <a:bodyPr wrap="square" anchor="t" lIns="0" rIns="0" tIns="0" bIns="0">
            <a:spAutoFit/>
          </a:bodyPr>
          <a:lstStyle/>
          <a:p>
            <a:pPr algn="l">
              <a:lnSpc>
                <a:spcPct val="115000"/>
              </a:lnSpc>
              <a:spcBef>
                <a:spcPts val="0"/>
              </a:spcBef>
              <a:spcAft>
                <a:spcPts val="600"/>
              </a:spcAft>
            </a:pPr>
            <a:r>
              <a:rPr sz="1300" b="0" i="0">
                <a:solidFill>
                  <a:srgbClr val="5B6B78"/>
                </a:solidFill>
                <a:latin typeface="Calibri"/>
              </a:rPr>
              <a:t>I nudged each of ~30 settings by 10% and measured how much peak force moved. Bars right = raises force, left = lowers it.</a:t>
            </a:r>
          </a:p>
        </p:txBody>
      </p:sp>
      <p:sp>
        <p:nvSpPr>
          <p:cNvPr id="8" name="Rectangle 7"/>
          <p:cNvSpPr/>
          <p:nvPr/>
        </p:nvSpPr>
        <p:spPr>
          <a:xfrm>
            <a:off x="6126480" y="3172968"/>
            <a:ext cx="100584" cy="100584"/>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3108960"/>
            <a:ext cx="5394960" cy="822960"/>
          </a:xfrm>
          <a:prstGeom prst="rect">
            <a:avLst/>
          </a:prstGeom>
          <a:noFill/>
        </p:spPr>
        <p:txBody>
          <a:bodyPr wrap="square" anchor="t" lIns="0" rIns="0" tIns="0" bIns="0">
            <a:spAutoFit/>
          </a:bodyPr>
          <a:lstStyle/>
          <a:p>
            <a:pPr algn="l">
              <a:lnSpc>
                <a:spcPct val="110000"/>
              </a:lnSpc>
              <a:spcBef>
                <a:spcPts val="0"/>
              </a:spcBef>
              <a:spcAft>
                <a:spcPts val="600"/>
              </a:spcAft>
            </a:pPr>
            <a:r>
              <a:rPr sz="1250" b="1" i="0">
                <a:solidFill>
                  <a:srgbClr val="16232F"/>
                </a:solidFill>
                <a:latin typeface="Calibri"/>
              </a:rPr>
              <a:t>Big movers: </a:t>
            </a:r>
            <a:r>
              <a:rPr sz="1250" b="0" i="0">
                <a:solidFill>
                  <a:srgbClr val="5B6B78"/>
                </a:solidFill>
                <a:latin typeface="Calibri"/>
              </a:rPr>
              <a:t>how sticky the calcium switch is (k_on / k_off) and the muscle's resting length.</a:t>
            </a:r>
          </a:p>
        </p:txBody>
      </p:sp>
      <p:sp>
        <p:nvSpPr>
          <p:cNvPr id="10" name="Rectangle 9"/>
          <p:cNvSpPr/>
          <p:nvPr/>
        </p:nvSpPr>
        <p:spPr>
          <a:xfrm>
            <a:off x="6126480" y="4041647"/>
            <a:ext cx="100584" cy="100584"/>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3977639"/>
            <a:ext cx="5394960" cy="822960"/>
          </a:xfrm>
          <a:prstGeom prst="rect">
            <a:avLst/>
          </a:prstGeom>
          <a:noFill/>
        </p:spPr>
        <p:txBody>
          <a:bodyPr wrap="square" anchor="t" lIns="0" rIns="0" tIns="0" bIns="0">
            <a:spAutoFit/>
          </a:bodyPr>
          <a:lstStyle/>
          <a:p>
            <a:pPr algn="l">
              <a:lnSpc>
                <a:spcPct val="110000"/>
              </a:lnSpc>
              <a:spcBef>
                <a:spcPts val="0"/>
              </a:spcBef>
              <a:spcAft>
                <a:spcPts val="600"/>
              </a:spcAft>
            </a:pPr>
            <a:r>
              <a:rPr sz="1250" b="1" i="0">
                <a:solidFill>
                  <a:srgbClr val="16232F"/>
                </a:solidFill>
                <a:latin typeface="Calibri"/>
              </a:rPr>
              <a:t>Middle: </a:t>
            </a:r>
            <a:r>
              <a:rPr sz="1250" b="0" i="0">
                <a:solidFill>
                  <a:srgbClr val="5B6B78"/>
                </a:solidFill>
                <a:latin typeface="Calibri"/>
              </a:rPr>
              <a:t>attachment rate k_3, motor density, and SRX release rate k_1.</a:t>
            </a:r>
          </a:p>
        </p:txBody>
      </p:sp>
      <p:sp>
        <p:nvSpPr>
          <p:cNvPr id="12" name="Rectangle 11"/>
          <p:cNvSpPr/>
          <p:nvPr/>
        </p:nvSpPr>
        <p:spPr>
          <a:xfrm>
            <a:off x="6126480" y="4910328"/>
            <a:ext cx="100584" cy="100584"/>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4846320"/>
            <a:ext cx="5394960" cy="822960"/>
          </a:xfrm>
          <a:prstGeom prst="rect">
            <a:avLst/>
          </a:prstGeom>
          <a:noFill/>
        </p:spPr>
        <p:txBody>
          <a:bodyPr wrap="square" anchor="t" lIns="0" rIns="0" tIns="0" bIns="0">
            <a:spAutoFit/>
          </a:bodyPr>
          <a:lstStyle/>
          <a:p>
            <a:pPr algn="l">
              <a:lnSpc>
                <a:spcPct val="110000"/>
              </a:lnSpc>
              <a:spcBef>
                <a:spcPts val="0"/>
              </a:spcBef>
              <a:spcAft>
                <a:spcPts val="600"/>
              </a:spcAft>
            </a:pPr>
            <a:r>
              <a:rPr sz="1250" b="1" i="0">
                <a:solidFill>
                  <a:srgbClr val="16232F"/>
                </a:solidFill>
                <a:latin typeface="Calibri"/>
              </a:rPr>
              <a:t>Near zero: </a:t>
            </a:r>
            <a:r>
              <a:rPr sz="1250" b="0" i="0">
                <a:solidFill>
                  <a:srgbClr val="5B6B78"/>
                </a:solidFill>
                <a:latin typeface="Calibri"/>
              </a:rPr>
              <a:t>most new 6-state coupling knobs — they shape the timing, not the peak height.</a:t>
            </a:r>
          </a:p>
        </p:txBody>
      </p:sp>
      <p:sp>
        <p:nvSpPr>
          <p:cNvPr id="14" name="Rectangle 13"/>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03 </a:t>
            </a:r>
            <a:r>
              <a:rPr sz="1100" b="0" i="0">
                <a:solidFill>
                  <a:srgbClr val="5B6B78"/>
                </a:solidFill>
                <a:latin typeface="Calibri"/>
              </a:rPr>
              <a:t>/ 10</a:t>
            </a:r>
          </a:p>
        </p:txBody>
      </p:sp>
      <p:sp>
        <p:nvSpPr>
          <p:cNvPr id="16" name="TextBox 15"/>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JULY 7 · A DETECTIVE STORY</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The knob that looked useless controls relaxation</a:t>
            </a:r>
          </a:p>
        </p:txBody>
      </p:sp>
      <p:sp>
        <p:nvSpPr>
          <p:cNvPr id="5" name="Rounded Rectangle 4"/>
          <p:cNvSpPr/>
          <p:nvPr/>
        </p:nvSpPr>
        <p:spPr>
          <a:xfrm>
            <a:off x="2663075" y="1593850"/>
            <a:ext cx="6835370" cy="289306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71_fine_sweep.png"/>
          <p:cNvPicPr>
            <a:picLocks noChangeAspect="1"/>
          </p:cNvPicPr>
          <p:nvPr/>
        </p:nvPicPr>
        <p:blipFill>
          <a:blip r:embed="rId2"/>
          <a:stretch>
            <a:fillRect/>
          </a:stretch>
        </p:blipFill>
        <p:spPr>
          <a:xfrm>
            <a:off x="2669425" y="1600200"/>
            <a:ext cx="6822670" cy="2880360"/>
          </a:xfrm>
          <a:prstGeom prst="rect">
            <a:avLst/>
          </a:prstGeom>
        </p:spPr>
      </p:pic>
      <p:sp>
        <p:nvSpPr>
          <p:cNvPr id="7" name="TextBox 6"/>
          <p:cNvSpPr txBox="1"/>
          <p:nvPr/>
        </p:nvSpPr>
        <p:spPr>
          <a:xfrm>
            <a:off x="777240" y="4526280"/>
            <a:ext cx="10607040" cy="320040"/>
          </a:xfrm>
          <a:prstGeom prst="rect">
            <a:avLst/>
          </a:prstGeom>
          <a:noFill/>
        </p:spPr>
        <p:txBody>
          <a:bodyPr wrap="square" anchor="t" lIns="0" rIns="0" tIns="0" bIns="0">
            <a:spAutoFit/>
          </a:bodyPr>
          <a:lstStyle/>
          <a:p>
            <a:pPr algn="ctr">
              <a:lnSpc>
                <a:spcPct val="105000"/>
              </a:lnSpc>
              <a:spcBef>
                <a:spcPts val="0"/>
              </a:spcBef>
              <a:spcAft>
                <a:spcPts val="600"/>
              </a:spcAft>
            </a:pPr>
            <a:r>
              <a:rPr sz="1050" b="0" i="0">
                <a:solidFill>
                  <a:srgbClr val="5B6B78"/>
                </a:solidFill>
                <a:latin typeface="Calibri"/>
              </a:rPr>
              <a:t>Sweeping one knob (k_7_1 — how strongly load keeps a motor gripping) across a wide range.</a:t>
            </a:r>
          </a:p>
        </p:txBody>
      </p:sp>
      <p:sp>
        <p:nvSpPr>
          <p:cNvPr id="8" name="Rounded Rectangle 7"/>
          <p:cNvSpPr/>
          <p:nvPr/>
        </p:nvSpPr>
        <p:spPr>
          <a:xfrm>
            <a:off x="777240" y="4983480"/>
            <a:ext cx="5212080" cy="128016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983480"/>
            <a:ext cx="54864" cy="1280160"/>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5148072"/>
            <a:ext cx="475488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Left — peak force</a:t>
            </a:r>
          </a:p>
        </p:txBody>
      </p:sp>
      <p:sp>
        <p:nvSpPr>
          <p:cNvPr id="11" name="TextBox 10"/>
          <p:cNvSpPr txBox="1"/>
          <p:nvPr/>
        </p:nvSpPr>
        <p:spPr>
          <a:xfrm>
            <a:off x="1033272" y="5550408"/>
            <a:ext cx="4754880" cy="594360"/>
          </a:xfrm>
          <a:prstGeom prst="rect">
            <a:avLst/>
          </a:prstGeom>
          <a:noFill/>
        </p:spPr>
        <p:txBody>
          <a:bodyPr wrap="square" anchor="t" lIns="0" rIns="0" tIns="0" bIns="0">
            <a:spAutoFit/>
          </a:bodyPr>
          <a:lstStyle/>
          <a:p>
            <a:pPr algn="l">
              <a:lnSpc>
                <a:spcPct val="108000"/>
              </a:lnSpc>
              <a:spcBef>
                <a:spcPts val="0"/>
              </a:spcBef>
              <a:spcAft>
                <a:spcPts val="400"/>
              </a:spcAft>
            </a:pPr>
            <a:r>
              <a:rPr sz="1200" b="0" i="0">
                <a:solidFill>
                  <a:srgbClr val="5B6B78"/>
                </a:solidFill>
                <a:latin typeface="Calibri"/>
              </a:rPr>
              <a:t>Barely changes, then falls off a cliff. That flat top is why it looked “useless” in the bar chart.</a:t>
            </a:r>
          </a:p>
        </p:txBody>
      </p:sp>
      <p:sp>
        <p:nvSpPr>
          <p:cNvPr id="12" name="Rounded Rectangle 11"/>
          <p:cNvSpPr/>
          <p:nvPr/>
        </p:nvSpPr>
        <p:spPr>
          <a:xfrm>
            <a:off x="6245352" y="4983480"/>
            <a:ext cx="5166360" cy="128016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4983480"/>
            <a:ext cx="54864" cy="1280160"/>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1384" y="5148072"/>
            <a:ext cx="470916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Right — relaxation time</a:t>
            </a:r>
          </a:p>
        </p:txBody>
      </p:sp>
      <p:sp>
        <p:nvSpPr>
          <p:cNvPr id="15" name="TextBox 14"/>
          <p:cNvSpPr txBox="1"/>
          <p:nvPr/>
        </p:nvSpPr>
        <p:spPr>
          <a:xfrm>
            <a:off x="6501384" y="5550408"/>
            <a:ext cx="4709160" cy="594360"/>
          </a:xfrm>
          <a:prstGeom prst="rect">
            <a:avLst/>
          </a:prstGeom>
          <a:noFill/>
        </p:spPr>
        <p:txBody>
          <a:bodyPr wrap="square" anchor="t" lIns="0" rIns="0" tIns="0" bIns="0">
            <a:spAutoFit/>
          </a:bodyPr>
          <a:lstStyle/>
          <a:p>
            <a:pPr algn="l">
              <a:lnSpc>
                <a:spcPct val="108000"/>
              </a:lnSpc>
              <a:spcBef>
                <a:spcPts val="0"/>
              </a:spcBef>
              <a:spcAft>
                <a:spcPts val="400"/>
              </a:spcAft>
            </a:pPr>
            <a:r>
              <a:rPr sz="1200" b="0" i="0">
                <a:solidFill>
                  <a:srgbClr val="5B6B78"/>
                </a:solidFill>
                <a:latin typeface="Calibri"/>
              </a:rPr>
              <a:t>Climbs steadily: crank this knob and the muscle takes far longer to let go. A </a:t>
            </a:r>
            <a:r>
              <a:rPr sz="1200" b="1" i="0">
                <a:solidFill>
                  <a:srgbClr val="16232F"/>
                </a:solidFill>
                <a:latin typeface="Calibri"/>
              </a:rPr>
              <a:t>relaxation</a:t>
            </a:r>
            <a:r>
              <a:rPr sz="1200" b="0" i="0">
                <a:solidFill>
                  <a:srgbClr val="5B6B78"/>
                </a:solidFill>
                <a:latin typeface="Calibri"/>
              </a:rPr>
              <a:t> knob, not a force knob.</a:t>
            </a:r>
          </a:p>
        </p:txBody>
      </p:sp>
      <p:sp>
        <p:nvSpPr>
          <p:cNvPr id="16" name="Rectangle 15"/>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04 </a:t>
            </a:r>
            <a:r>
              <a:rPr sz="1100" b="0" i="0">
                <a:solidFill>
                  <a:srgbClr val="5B6B78"/>
                </a:solidFill>
                <a:latin typeface="Calibri"/>
              </a:rPr>
              <a:t>/ 10</a:t>
            </a:r>
          </a:p>
        </p:txBody>
      </p:sp>
      <p:sp>
        <p:nvSpPr>
          <p:cNvPr id="18" name="TextBox 17"/>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JULY 14 &amp; 20 · FIXING THE PHYSICS</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Three foundation bugs that were quietly wrong</a:t>
            </a:r>
          </a:p>
        </p:txBody>
      </p:sp>
      <p:sp>
        <p:nvSpPr>
          <p:cNvPr id="5" name="Rounded Rectangle 4"/>
          <p:cNvSpPr/>
          <p:nvPr/>
        </p:nvSpPr>
        <p:spPr>
          <a:xfrm>
            <a:off x="777240" y="1783080"/>
            <a:ext cx="10634472" cy="1207008"/>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29384"/>
            <a:ext cx="822960" cy="914400"/>
          </a:xfrm>
          <a:prstGeom prst="rect">
            <a:avLst/>
          </a:prstGeom>
          <a:noFill/>
        </p:spPr>
        <p:txBody>
          <a:bodyPr wrap="square" anchor="t" lIns="0" rIns="0" tIns="0" bIns="0">
            <a:spAutoFit/>
          </a:bodyPr>
          <a:lstStyle/>
          <a:p>
            <a:pPr algn="l">
              <a:lnSpc>
                <a:spcPct val="105000"/>
              </a:lnSpc>
              <a:spcBef>
                <a:spcPts val="0"/>
              </a:spcBef>
              <a:spcAft>
                <a:spcPts val="600"/>
              </a:spcAft>
            </a:pPr>
            <a:r>
              <a:rPr sz="2000" b="1" i="0">
                <a:solidFill>
                  <a:srgbClr val="0F7D7D"/>
                </a:solidFill>
                <a:latin typeface="Calibri"/>
              </a:rPr>
              <a:t>01</a:t>
            </a:r>
          </a:p>
        </p:txBody>
      </p:sp>
      <p:sp>
        <p:nvSpPr>
          <p:cNvPr id="7" name="TextBox 6"/>
          <p:cNvSpPr txBox="1"/>
          <p:nvPr/>
        </p:nvSpPr>
        <p:spPr>
          <a:xfrm>
            <a:off x="1783080" y="1938528"/>
            <a:ext cx="941832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Titin was pushing when it should rest</a:t>
            </a:r>
          </a:p>
        </p:txBody>
      </p:sp>
      <p:sp>
        <p:nvSpPr>
          <p:cNvPr id="8" name="TextBox 7"/>
          <p:cNvSpPr txBox="1"/>
          <p:nvPr/>
        </p:nvSpPr>
        <p:spPr>
          <a:xfrm>
            <a:off x="1783080" y="2313432"/>
            <a:ext cx="9418320" cy="640080"/>
          </a:xfrm>
          <a:prstGeom prst="rect">
            <a:avLst/>
          </a:prstGeom>
          <a:noFill/>
        </p:spPr>
        <p:txBody>
          <a:bodyPr wrap="square" anchor="t" lIns="0" rIns="0" tIns="0" bIns="0">
            <a:spAutoFit/>
          </a:bodyPr>
          <a:lstStyle/>
          <a:p>
            <a:pPr algn="l">
              <a:lnSpc>
                <a:spcPct val="108000"/>
              </a:lnSpc>
              <a:spcBef>
                <a:spcPts val="0"/>
              </a:spcBef>
              <a:spcAft>
                <a:spcPts val="600"/>
              </a:spcAft>
            </a:pPr>
            <a:r>
              <a:rPr sz="1250" b="0" i="0">
                <a:solidFill>
                  <a:srgbClr val="5B6B78"/>
                </a:solidFill>
                <a:latin typeface="Calibri"/>
              </a:rPr>
              <a:t>The elastic “rubber band” protein resisted </a:t>
            </a:r>
            <a:r>
              <a:rPr sz="1250" b="0" i="1">
                <a:solidFill>
                  <a:srgbClr val="16232F"/>
                </a:solidFill>
                <a:latin typeface="Calibri"/>
              </a:rPr>
              <a:t>squishing</a:t>
            </a:r>
            <a:r>
              <a:rPr sz="1250" b="0" i="0">
                <a:solidFill>
                  <a:srgbClr val="5B6B78"/>
                </a:solidFill>
                <a:latin typeface="Calibri"/>
              </a:rPr>
              <a:t> as hard as stretching — creating impossible </a:t>
            </a:r>
            <a:r>
              <a:rPr sz="1250" b="1" i="0">
                <a:solidFill>
                  <a:srgbClr val="D8503A"/>
                </a:solidFill>
                <a:latin typeface="Calibri"/>
              </a:rPr>
              <a:t>negative force</a:t>
            </a:r>
            <a:r>
              <a:rPr sz="1250" b="0" i="0">
                <a:solidFill>
                  <a:srgbClr val="5B6B78"/>
                </a:solidFill>
                <a:latin typeface="Calibri"/>
              </a:rPr>
              <a:t>. Real titin only pulls when stretched. Fixed.</a:t>
            </a:r>
          </a:p>
        </p:txBody>
      </p:sp>
      <p:sp>
        <p:nvSpPr>
          <p:cNvPr id="9" name="Rounded Rectangle 8"/>
          <p:cNvSpPr/>
          <p:nvPr/>
        </p:nvSpPr>
        <p:spPr>
          <a:xfrm>
            <a:off x="777240" y="3154680"/>
            <a:ext cx="10634472" cy="1207008"/>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300984"/>
            <a:ext cx="822960" cy="914400"/>
          </a:xfrm>
          <a:prstGeom prst="rect">
            <a:avLst/>
          </a:prstGeom>
          <a:noFill/>
        </p:spPr>
        <p:txBody>
          <a:bodyPr wrap="square" anchor="t" lIns="0" rIns="0" tIns="0" bIns="0">
            <a:spAutoFit/>
          </a:bodyPr>
          <a:lstStyle/>
          <a:p>
            <a:pPr algn="l">
              <a:lnSpc>
                <a:spcPct val="105000"/>
              </a:lnSpc>
              <a:spcBef>
                <a:spcPts val="0"/>
              </a:spcBef>
              <a:spcAft>
                <a:spcPts val="600"/>
              </a:spcAft>
            </a:pPr>
            <a:r>
              <a:rPr sz="2000" b="1" i="0">
                <a:solidFill>
                  <a:srgbClr val="0F7D7D"/>
                </a:solidFill>
                <a:latin typeface="Calibri"/>
              </a:rPr>
              <a:t>02</a:t>
            </a:r>
          </a:p>
        </p:txBody>
      </p:sp>
      <p:sp>
        <p:nvSpPr>
          <p:cNvPr id="11" name="TextBox 10"/>
          <p:cNvSpPr txBox="1"/>
          <p:nvPr/>
        </p:nvSpPr>
        <p:spPr>
          <a:xfrm>
            <a:off x="1783080" y="3310128"/>
            <a:ext cx="941832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Wrong resting length</a:t>
            </a:r>
          </a:p>
        </p:txBody>
      </p:sp>
      <p:sp>
        <p:nvSpPr>
          <p:cNvPr id="12" name="TextBox 11"/>
          <p:cNvSpPr txBox="1"/>
          <p:nvPr/>
        </p:nvSpPr>
        <p:spPr>
          <a:xfrm>
            <a:off x="1783080" y="3685032"/>
            <a:ext cx="9418320" cy="640080"/>
          </a:xfrm>
          <a:prstGeom prst="rect">
            <a:avLst/>
          </a:prstGeom>
          <a:noFill/>
        </p:spPr>
        <p:txBody>
          <a:bodyPr wrap="square" anchor="t" lIns="0" rIns="0" tIns="0" bIns="0">
            <a:spAutoFit/>
          </a:bodyPr>
          <a:lstStyle/>
          <a:p>
            <a:pPr algn="l">
              <a:lnSpc>
                <a:spcPct val="108000"/>
              </a:lnSpc>
              <a:spcBef>
                <a:spcPts val="0"/>
              </a:spcBef>
              <a:spcAft>
                <a:spcPts val="600"/>
              </a:spcAft>
            </a:pPr>
            <a:r>
              <a:rPr sz="1250" b="0" i="0">
                <a:solidFill>
                  <a:srgbClr val="5B6B78"/>
                </a:solidFill>
                <a:latin typeface="Calibri"/>
              </a:rPr>
              <a:t>The model sat at 1265 nm; the lab works near 1000 nm. Re-based everything to 1000 nm so simulated and real muscle start from the same place.</a:t>
            </a:r>
          </a:p>
        </p:txBody>
      </p:sp>
      <p:sp>
        <p:nvSpPr>
          <p:cNvPr id="13" name="Rounded Rectangle 12"/>
          <p:cNvSpPr/>
          <p:nvPr/>
        </p:nvSpPr>
        <p:spPr>
          <a:xfrm>
            <a:off x="777240" y="4526280"/>
            <a:ext cx="10634472" cy="1207008"/>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72584"/>
            <a:ext cx="822960" cy="914400"/>
          </a:xfrm>
          <a:prstGeom prst="rect">
            <a:avLst/>
          </a:prstGeom>
          <a:noFill/>
        </p:spPr>
        <p:txBody>
          <a:bodyPr wrap="square" anchor="t" lIns="0" rIns="0" tIns="0" bIns="0">
            <a:spAutoFit/>
          </a:bodyPr>
          <a:lstStyle/>
          <a:p>
            <a:pPr algn="l">
              <a:lnSpc>
                <a:spcPct val="105000"/>
              </a:lnSpc>
              <a:spcBef>
                <a:spcPts val="0"/>
              </a:spcBef>
              <a:spcAft>
                <a:spcPts val="600"/>
              </a:spcAft>
            </a:pPr>
            <a:r>
              <a:rPr sz="2000" b="1" i="0">
                <a:solidFill>
                  <a:srgbClr val="0F7D7D"/>
                </a:solidFill>
                <a:latin typeface="Calibri"/>
              </a:rPr>
              <a:t>03</a:t>
            </a:r>
          </a:p>
        </p:txBody>
      </p:sp>
      <p:sp>
        <p:nvSpPr>
          <p:cNvPr id="15" name="TextBox 14"/>
          <p:cNvSpPr txBox="1"/>
          <p:nvPr/>
        </p:nvSpPr>
        <p:spPr>
          <a:xfrm>
            <a:off x="1783080" y="4681728"/>
            <a:ext cx="941832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The “snap-back” release was missing</a:t>
            </a:r>
          </a:p>
        </p:txBody>
      </p:sp>
      <p:sp>
        <p:nvSpPr>
          <p:cNvPr id="16" name="TextBox 15"/>
          <p:cNvSpPr txBox="1"/>
          <p:nvPr/>
        </p:nvSpPr>
        <p:spPr>
          <a:xfrm>
            <a:off x="1783080" y="5056632"/>
            <a:ext cx="9418320" cy="640080"/>
          </a:xfrm>
          <a:prstGeom prst="rect">
            <a:avLst/>
          </a:prstGeom>
          <a:noFill/>
        </p:spPr>
        <p:txBody>
          <a:bodyPr wrap="square" anchor="t" lIns="0" rIns="0" tIns="0" bIns="0">
            <a:spAutoFit/>
          </a:bodyPr>
          <a:lstStyle/>
          <a:p>
            <a:pPr algn="l">
              <a:lnSpc>
                <a:spcPct val="108000"/>
              </a:lnSpc>
              <a:spcBef>
                <a:spcPts val="0"/>
              </a:spcBef>
              <a:spcAft>
                <a:spcPts val="600"/>
              </a:spcAft>
            </a:pPr>
            <a:r>
              <a:rPr sz="1250" b="0" i="0">
                <a:solidFill>
                  <a:srgbClr val="5B6B78"/>
                </a:solidFill>
                <a:latin typeface="Calibri"/>
              </a:rPr>
              <a:t>Added a sharp let-go when a motor is pulled too far. This one fix took the 4-state disease error from 0.37 → 0.03 — a 10× jump in realism.</a:t>
            </a:r>
          </a:p>
        </p:txBody>
      </p:sp>
      <p:sp>
        <p:nvSpPr>
          <p:cNvPr id="17" name="TextBox 16"/>
          <p:cNvSpPr txBox="1"/>
          <p:nvPr/>
        </p:nvSpPr>
        <p:spPr>
          <a:xfrm>
            <a:off x="822960" y="5943600"/>
            <a:ext cx="10515600" cy="365760"/>
          </a:xfrm>
          <a:prstGeom prst="rect">
            <a:avLst/>
          </a:prstGeom>
          <a:noFill/>
        </p:spPr>
        <p:txBody>
          <a:bodyPr wrap="square" anchor="t" lIns="0" rIns="0" tIns="0" bIns="0">
            <a:spAutoFit/>
          </a:bodyPr>
          <a:lstStyle/>
          <a:p>
            <a:pPr algn="l">
              <a:lnSpc>
                <a:spcPct val="105000"/>
              </a:lnSpc>
              <a:spcBef>
                <a:spcPts val="0"/>
              </a:spcBef>
              <a:spcAft>
                <a:spcPts val="600"/>
              </a:spcAft>
            </a:pPr>
            <a:r>
              <a:rPr sz="1150" b="0" i="1">
                <a:solidFill>
                  <a:srgbClr val="5B6B78"/>
                </a:solidFill>
                <a:latin typeface="Calibri"/>
              </a:rPr>
              <a:t>A hidden pipeline file was also missing since a June cleanup — no fit could actually re-run until I restored it.</a:t>
            </a:r>
          </a:p>
        </p:txBody>
      </p:sp>
      <p:sp>
        <p:nvSpPr>
          <p:cNvPr id="18" name="Rectangle 17"/>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05 </a:t>
            </a:r>
            <a:r>
              <a:rPr sz="1100" b="0" i="0">
                <a:solidFill>
                  <a:srgbClr val="5B6B78"/>
                </a:solidFill>
                <a:latin typeface="Calibri"/>
              </a:rPr>
              <a:t>/ 10</a:t>
            </a:r>
          </a:p>
        </p:txBody>
      </p:sp>
      <p:sp>
        <p:nvSpPr>
          <p:cNvPr id="20" name="TextBox 19"/>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JULY 22 · A BETTER EXPERIMENT RECIPE</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Slowing the calcium “go” signal cut the error in half</a:t>
            </a:r>
          </a:p>
        </p:txBody>
      </p:sp>
      <p:sp>
        <p:nvSpPr>
          <p:cNvPr id="5" name="Rounded Rectangle 4"/>
          <p:cNvSpPr/>
          <p:nvPr/>
        </p:nvSpPr>
        <p:spPr>
          <a:xfrm>
            <a:off x="2647517" y="1639570"/>
            <a:ext cx="6866485" cy="307594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efore_after_overlay_6state.png"/>
          <p:cNvPicPr>
            <a:picLocks noChangeAspect="1"/>
          </p:cNvPicPr>
          <p:nvPr/>
        </p:nvPicPr>
        <p:blipFill>
          <a:blip r:embed="rId2"/>
          <a:stretch>
            <a:fillRect/>
          </a:stretch>
        </p:blipFill>
        <p:spPr>
          <a:xfrm>
            <a:off x="2653867" y="1645920"/>
            <a:ext cx="6853785" cy="3063240"/>
          </a:xfrm>
          <a:prstGeom prst="rect">
            <a:avLst/>
          </a:prstGeom>
        </p:spPr>
      </p:pic>
      <p:sp>
        <p:nvSpPr>
          <p:cNvPr id="7" name="TextBox 6"/>
          <p:cNvSpPr txBox="1"/>
          <p:nvPr/>
        </p:nvSpPr>
        <p:spPr>
          <a:xfrm>
            <a:off x="777240" y="4754880"/>
            <a:ext cx="10607040" cy="320040"/>
          </a:xfrm>
          <a:prstGeom prst="rect">
            <a:avLst/>
          </a:prstGeom>
          <a:noFill/>
        </p:spPr>
        <p:txBody>
          <a:bodyPr wrap="square" anchor="t" lIns="0" rIns="0" tIns="0" bIns="0">
            <a:spAutoFit/>
          </a:bodyPr>
          <a:lstStyle/>
          <a:p>
            <a:pPr algn="ctr">
              <a:lnSpc>
                <a:spcPct val="105000"/>
              </a:lnSpc>
              <a:spcBef>
                <a:spcPts val="0"/>
              </a:spcBef>
              <a:spcAft>
                <a:spcPts val="600"/>
              </a:spcAft>
            </a:pPr>
            <a:r>
              <a:rPr sz="1050" b="0" i="0">
                <a:solidFill>
                  <a:srgbClr val="5B6B78"/>
                </a:solidFill>
                <a:latin typeface="Calibri"/>
              </a:rPr>
              <a:t>Grey dashed = old fast-onset recipe · Green = new slow-onset recipe · Black = data</a:t>
            </a:r>
          </a:p>
        </p:txBody>
      </p:sp>
      <p:sp>
        <p:nvSpPr>
          <p:cNvPr id="8" name="Rounded Rectangle 7"/>
          <p:cNvSpPr/>
          <p:nvPr/>
        </p:nvSpPr>
        <p:spPr>
          <a:xfrm>
            <a:off x="777240" y="5166360"/>
            <a:ext cx="3383280" cy="1051560"/>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21808"/>
            <a:ext cx="3383280" cy="457200"/>
          </a:xfrm>
          <a:prstGeom prst="rect">
            <a:avLst/>
          </a:prstGeom>
          <a:noFill/>
        </p:spPr>
        <p:txBody>
          <a:bodyPr wrap="square" anchor="t" lIns="0" rIns="0" tIns="0" bIns="0">
            <a:spAutoFit/>
          </a:bodyPr>
          <a:lstStyle/>
          <a:p>
            <a:pPr algn="ctr">
              <a:lnSpc>
                <a:spcPct val="105000"/>
              </a:lnSpc>
              <a:spcBef>
                <a:spcPts val="0"/>
              </a:spcBef>
              <a:spcAft>
                <a:spcPts val="600"/>
              </a:spcAft>
            </a:pPr>
            <a:r>
              <a:rPr sz="2000" b="1" i="0">
                <a:solidFill>
                  <a:srgbClr val="0F7D7D"/>
                </a:solidFill>
                <a:latin typeface="Calibri"/>
              </a:rPr>
              <a:t>0.0052 → 0.0023</a:t>
            </a:r>
          </a:p>
        </p:txBody>
      </p:sp>
      <p:sp>
        <p:nvSpPr>
          <p:cNvPr id="10" name="TextBox 9"/>
          <p:cNvSpPr txBox="1"/>
          <p:nvPr/>
        </p:nvSpPr>
        <p:spPr>
          <a:xfrm>
            <a:off x="777240" y="5852160"/>
            <a:ext cx="3383280" cy="320040"/>
          </a:xfrm>
          <a:prstGeom prst="rect">
            <a:avLst/>
          </a:prstGeom>
          <a:noFill/>
        </p:spPr>
        <p:txBody>
          <a:bodyPr wrap="square" anchor="t" lIns="0" rIns="0" tIns="0" bIns="0">
            <a:spAutoFit/>
          </a:bodyPr>
          <a:lstStyle/>
          <a:p>
            <a:pPr algn="ctr">
              <a:lnSpc>
                <a:spcPct val="105000"/>
              </a:lnSpc>
              <a:spcBef>
                <a:spcPts val="0"/>
              </a:spcBef>
              <a:spcAft>
                <a:spcPts val="600"/>
              </a:spcAft>
            </a:pPr>
            <a:r>
              <a:rPr sz="1150" b="0" i="0">
                <a:solidFill>
                  <a:srgbClr val="5B6B78"/>
                </a:solidFill>
                <a:latin typeface="Calibri"/>
              </a:rPr>
              <a:t>Control error</a:t>
            </a:r>
          </a:p>
        </p:txBody>
      </p:sp>
      <p:sp>
        <p:nvSpPr>
          <p:cNvPr id="11" name="Rounded Rectangle 10"/>
          <p:cNvSpPr/>
          <p:nvPr/>
        </p:nvSpPr>
        <p:spPr>
          <a:xfrm>
            <a:off x="4407408" y="5166360"/>
            <a:ext cx="3383280" cy="1051560"/>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07408" y="5321808"/>
            <a:ext cx="3383280" cy="457200"/>
          </a:xfrm>
          <a:prstGeom prst="rect">
            <a:avLst/>
          </a:prstGeom>
          <a:noFill/>
        </p:spPr>
        <p:txBody>
          <a:bodyPr wrap="square" anchor="t" lIns="0" rIns="0" tIns="0" bIns="0">
            <a:spAutoFit/>
          </a:bodyPr>
          <a:lstStyle/>
          <a:p>
            <a:pPr algn="ctr">
              <a:lnSpc>
                <a:spcPct val="105000"/>
              </a:lnSpc>
              <a:spcBef>
                <a:spcPts val="0"/>
              </a:spcBef>
              <a:spcAft>
                <a:spcPts val="600"/>
              </a:spcAft>
            </a:pPr>
            <a:r>
              <a:rPr sz="2000" b="1" i="0">
                <a:solidFill>
                  <a:srgbClr val="0F7D7D"/>
                </a:solidFill>
                <a:latin typeface="Calibri"/>
              </a:rPr>
              <a:t>0.0055 → 0.0024</a:t>
            </a:r>
          </a:p>
        </p:txBody>
      </p:sp>
      <p:sp>
        <p:nvSpPr>
          <p:cNvPr id="13" name="TextBox 12"/>
          <p:cNvSpPr txBox="1"/>
          <p:nvPr/>
        </p:nvSpPr>
        <p:spPr>
          <a:xfrm>
            <a:off x="4407408" y="5852160"/>
            <a:ext cx="3383280" cy="320040"/>
          </a:xfrm>
          <a:prstGeom prst="rect">
            <a:avLst/>
          </a:prstGeom>
          <a:noFill/>
        </p:spPr>
        <p:txBody>
          <a:bodyPr wrap="square" anchor="t" lIns="0" rIns="0" tIns="0" bIns="0">
            <a:spAutoFit/>
          </a:bodyPr>
          <a:lstStyle/>
          <a:p>
            <a:pPr algn="ctr">
              <a:lnSpc>
                <a:spcPct val="105000"/>
              </a:lnSpc>
              <a:spcBef>
                <a:spcPts val="0"/>
              </a:spcBef>
              <a:spcAft>
                <a:spcPts val="600"/>
              </a:spcAft>
            </a:pPr>
            <a:r>
              <a:rPr sz="1150" b="0" i="0">
                <a:solidFill>
                  <a:srgbClr val="5B6B78"/>
                </a:solidFill>
                <a:latin typeface="Calibri"/>
              </a:rPr>
              <a:t>HCM error</a:t>
            </a:r>
          </a:p>
        </p:txBody>
      </p:sp>
      <p:sp>
        <p:nvSpPr>
          <p:cNvPr id="14" name="Rounded Rectangle 13"/>
          <p:cNvSpPr/>
          <p:nvPr/>
        </p:nvSpPr>
        <p:spPr>
          <a:xfrm>
            <a:off x="8037576" y="5166360"/>
            <a:ext cx="3383280" cy="1051560"/>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37576" y="5321808"/>
            <a:ext cx="3383280" cy="457200"/>
          </a:xfrm>
          <a:prstGeom prst="rect">
            <a:avLst/>
          </a:prstGeom>
          <a:noFill/>
        </p:spPr>
        <p:txBody>
          <a:bodyPr wrap="square" anchor="t" lIns="0" rIns="0" tIns="0" bIns="0">
            <a:spAutoFit/>
          </a:bodyPr>
          <a:lstStyle/>
          <a:p>
            <a:pPr algn="ctr">
              <a:lnSpc>
                <a:spcPct val="105000"/>
              </a:lnSpc>
              <a:spcBef>
                <a:spcPts val="0"/>
              </a:spcBef>
              <a:spcAft>
                <a:spcPts val="600"/>
              </a:spcAft>
            </a:pPr>
            <a:r>
              <a:rPr sz="2000" b="1" i="0">
                <a:solidFill>
                  <a:srgbClr val="0F7D7D"/>
                </a:solidFill>
                <a:latin typeface="Calibri"/>
              </a:rPr>
              <a:t>≈ 2×</a:t>
            </a:r>
          </a:p>
        </p:txBody>
      </p:sp>
      <p:sp>
        <p:nvSpPr>
          <p:cNvPr id="16" name="TextBox 15"/>
          <p:cNvSpPr txBox="1"/>
          <p:nvPr/>
        </p:nvSpPr>
        <p:spPr>
          <a:xfrm>
            <a:off x="8037576" y="5852160"/>
            <a:ext cx="3383280" cy="320040"/>
          </a:xfrm>
          <a:prstGeom prst="rect">
            <a:avLst/>
          </a:prstGeom>
          <a:noFill/>
        </p:spPr>
        <p:txBody>
          <a:bodyPr wrap="square" anchor="t" lIns="0" rIns="0" tIns="0" bIns="0">
            <a:spAutoFit/>
          </a:bodyPr>
          <a:lstStyle/>
          <a:p>
            <a:pPr algn="ctr">
              <a:lnSpc>
                <a:spcPct val="105000"/>
              </a:lnSpc>
              <a:spcBef>
                <a:spcPts val="0"/>
              </a:spcBef>
              <a:spcAft>
                <a:spcPts val="600"/>
              </a:spcAft>
            </a:pPr>
            <a:r>
              <a:rPr sz="1150" b="0" i="0">
                <a:solidFill>
                  <a:srgbClr val="5B6B78"/>
                </a:solidFill>
                <a:latin typeface="Calibri"/>
              </a:rPr>
              <a:t>Better in both</a:t>
            </a:r>
          </a:p>
        </p:txBody>
      </p:sp>
      <p:sp>
        <p:nvSpPr>
          <p:cNvPr id="17" name="Rectangle 16"/>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06 </a:t>
            </a:r>
            <a:r>
              <a:rPr sz="1100" b="0" i="0">
                <a:solidFill>
                  <a:srgbClr val="5B6B78"/>
                </a:solidFill>
                <a:latin typeface="Calibri"/>
              </a:rPr>
              <a:t>/ 10</a:t>
            </a:r>
          </a:p>
        </p:txBody>
      </p:sp>
      <p:sp>
        <p:nvSpPr>
          <p:cNvPr id="19" name="TextBox 18"/>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JULY 23 · TIMING CHECK</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Is the model's force arriving at the right moment?</a:t>
            </a:r>
          </a:p>
        </p:txBody>
      </p:sp>
      <p:sp>
        <p:nvSpPr>
          <p:cNvPr id="5" name="Rounded Rectangle 4"/>
          <p:cNvSpPr/>
          <p:nvPr/>
        </p:nvSpPr>
        <p:spPr>
          <a:xfrm>
            <a:off x="2237613" y="1685290"/>
            <a:ext cx="7686293" cy="321310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rce_shift_diag.png"/>
          <p:cNvPicPr>
            <a:picLocks noChangeAspect="1"/>
          </p:cNvPicPr>
          <p:nvPr/>
        </p:nvPicPr>
        <p:blipFill>
          <a:blip r:embed="rId2"/>
          <a:stretch>
            <a:fillRect/>
          </a:stretch>
        </p:blipFill>
        <p:spPr>
          <a:xfrm>
            <a:off x="2243963" y="1691640"/>
            <a:ext cx="7673593" cy="3200400"/>
          </a:xfrm>
          <a:prstGeom prst="rect">
            <a:avLst/>
          </a:prstGeom>
        </p:spPr>
      </p:pic>
      <p:sp>
        <p:nvSpPr>
          <p:cNvPr id="7" name="TextBox 6"/>
          <p:cNvSpPr txBox="1"/>
          <p:nvPr/>
        </p:nvSpPr>
        <p:spPr>
          <a:xfrm>
            <a:off x="1463040" y="4937760"/>
            <a:ext cx="9235440" cy="320040"/>
          </a:xfrm>
          <a:prstGeom prst="rect">
            <a:avLst/>
          </a:prstGeom>
          <a:noFill/>
        </p:spPr>
        <p:txBody>
          <a:bodyPr wrap="square" anchor="t" lIns="0" rIns="0" tIns="0" bIns="0">
            <a:spAutoFit/>
          </a:bodyPr>
          <a:lstStyle/>
          <a:p>
            <a:pPr algn="ctr">
              <a:lnSpc>
                <a:spcPct val="105000"/>
              </a:lnSpc>
              <a:spcBef>
                <a:spcPts val="0"/>
              </a:spcBef>
              <a:spcAft>
                <a:spcPts val="600"/>
              </a:spcAft>
            </a:pPr>
            <a:r>
              <a:rPr sz="1050" b="0" i="0">
                <a:solidFill>
                  <a:srgbClr val="5B6B78"/>
                </a:solidFill>
                <a:latin typeface="Calibri"/>
              </a:rPr>
              <a:t>Sliding the model's force earlier/later in time and measuring the error. The dip = best alignment.</a:t>
            </a:r>
          </a:p>
        </p:txBody>
      </p:sp>
      <p:sp>
        <p:nvSpPr>
          <p:cNvPr id="8" name="TextBox 7"/>
          <p:cNvSpPr txBox="1"/>
          <p:nvPr/>
        </p:nvSpPr>
        <p:spPr>
          <a:xfrm>
            <a:off x="822960" y="5440680"/>
            <a:ext cx="10515600" cy="822960"/>
          </a:xfrm>
          <a:prstGeom prst="rect">
            <a:avLst/>
          </a:prstGeom>
          <a:noFill/>
        </p:spPr>
        <p:txBody>
          <a:bodyPr wrap="square" anchor="t" lIns="0" rIns="0" tIns="0" bIns="0">
            <a:spAutoFit/>
          </a:bodyPr>
          <a:lstStyle/>
          <a:p>
            <a:pPr algn="l">
              <a:lnSpc>
                <a:spcPct val="115000"/>
              </a:lnSpc>
              <a:spcBef>
                <a:spcPts val="0"/>
              </a:spcBef>
              <a:spcAft>
                <a:spcPts val="600"/>
              </a:spcAft>
            </a:pPr>
            <a:r>
              <a:rPr sz="1250" b="0" i="0">
                <a:solidFill>
                  <a:srgbClr val="5B6B78"/>
                </a:solidFill>
                <a:latin typeface="Calibri"/>
              </a:rPr>
              <a:t>Lowest error sits at </a:t>
            </a:r>
            <a:r>
              <a:rPr sz="1250" b="1" i="0">
                <a:solidFill>
                  <a:srgbClr val="16232F"/>
                </a:solidFill>
                <a:latin typeface="Calibri"/>
              </a:rPr>
              <a:t>−16 ms (control)</a:t>
            </a:r>
            <a:r>
              <a:rPr sz="1250" b="0" i="0">
                <a:solidFill>
                  <a:srgbClr val="5B6B78"/>
                </a:solidFill>
                <a:latin typeface="Calibri"/>
              </a:rPr>
              <a:t> and </a:t>
            </a:r>
            <a:r>
              <a:rPr sz="1250" b="1" i="0">
                <a:solidFill>
                  <a:srgbClr val="16232F"/>
                </a:solidFill>
                <a:latin typeface="Calibri"/>
              </a:rPr>
              <a:t>−12 ms (HCM)</a:t>
            </a:r>
            <a:r>
              <a:rPr sz="1250" b="0" i="0">
                <a:solidFill>
                  <a:srgbClr val="5B6B78"/>
                </a:solidFill>
                <a:latin typeface="Calibri"/>
              </a:rPr>
              <a:t> — the model's force currently rises a hair </a:t>
            </a:r>
            <a:r>
              <a:rPr sz="1250" b="1" i="0">
                <a:solidFill>
                  <a:srgbClr val="0F7D7D"/>
                </a:solidFill>
                <a:latin typeface="Calibri"/>
              </a:rPr>
              <a:t>too early</a:t>
            </a:r>
            <a:r>
              <a:rPr sz="1250" b="0" i="0">
                <a:solidFill>
                  <a:srgbClr val="5B6B78"/>
                </a:solidFill>
                <a:latin typeface="Calibri"/>
              </a:rPr>
              <a:t>. A ~14 ms calcium-timing tweak would tighten it further. Small, but worth logging.</a:t>
            </a:r>
          </a:p>
        </p:txBody>
      </p:sp>
      <p:sp>
        <p:nvSpPr>
          <p:cNvPr id="9" name="Rectangle 8"/>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07 </a:t>
            </a:r>
            <a:r>
              <a:rPr sz="1100" b="0" i="0">
                <a:solidFill>
                  <a:srgbClr val="5B6B78"/>
                </a:solidFill>
                <a:latin typeface="Calibri"/>
              </a:rPr>
              <a:t>/ 10</a:t>
            </a:r>
          </a:p>
        </p:txBody>
      </p:sp>
      <p:sp>
        <p:nvSpPr>
          <p:cNvPr id="11" name="TextBox 10"/>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THE HONEST CATCH</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D8503A"/>
                </a:solidFill>
                <a:latin typeface="Calibri"/>
              </a:rPr>
              <a:t>The winning model can't yet name one culprit</a:t>
            </a:r>
          </a:p>
        </p:txBody>
      </p:sp>
      <p:sp>
        <p:nvSpPr>
          <p:cNvPr id="5" name="Rounded Rectangle 4"/>
          <p:cNvSpPr/>
          <p:nvPr/>
        </p:nvSpPr>
        <p:spPr>
          <a:xfrm>
            <a:off x="777240" y="1920240"/>
            <a:ext cx="5257800" cy="228600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20240"/>
            <a:ext cx="54864" cy="2286000"/>
          </a:xfrm>
          <a:prstGeom prst="rect">
            <a:avLst/>
          </a:prstGeom>
          <a:solidFill>
            <a:srgbClr val="D8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2084832"/>
            <a:ext cx="480060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What I hoped</a:t>
            </a:r>
          </a:p>
        </p:txBody>
      </p:sp>
      <p:sp>
        <p:nvSpPr>
          <p:cNvPr id="8" name="TextBox 7"/>
          <p:cNvSpPr txBox="1"/>
          <p:nvPr/>
        </p:nvSpPr>
        <p:spPr>
          <a:xfrm>
            <a:off x="1033272" y="2487168"/>
            <a:ext cx="4800600" cy="160020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5B6B78"/>
                </a:solidFill>
                <a:latin typeface="Calibri"/>
              </a:rPr>
              <a:t>“HCM is driven by </a:t>
            </a:r>
            <a:r>
              <a:rPr sz="1300" b="1" i="0">
                <a:solidFill>
                  <a:srgbClr val="16232F"/>
                </a:solidFill>
                <a:latin typeface="Calibri"/>
              </a:rPr>
              <a:t>this one</a:t>
            </a:r>
            <a:r>
              <a:rPr sz="1300" b="0" i="0">
                <a:solidFill>
                  <a:srgbClr val="5B6B78"/>
                </a:solidFill>
                <a:latin typeface="Calibri"/>
              </a:rPr>
              <a:t> knob turned up </a:t>
            </a:r>
            <a:r>
              <a:rPr sz="1300" b="1" i="0">
                <a:solidFill>
                  <a:srgbClr val="16232F"/>
                </a:solidFill>
                <a:latin typeface="Calibri"/>
              </a:rPr>
              <a:t>this much</a:t>
            </a:r>
            <a:r>
              <a:rPr sz="1300" b="0" i="0">
                <a:solidFill>
                  <a:srgbClr val="5B6B78"/>
                </a:solidFill>
                <a:latin typeface="Calibri"/>
              </a:rPr>
              <a:t>” — a single number to hand Julia.</a:t>
            </a:r>
          </a:p>
        </p:txBody>
      </p:sp>
      <p:sp>
        <p:nvSpPr>
          <p:cNvPr id="9" name="Rounded Rectangle 8"/>
          <p:cNvSpPr/>
          <p:nvPr/>
        </p:nvSpPr>
        <p:spPr>
          <a:xfrm>
            <a:off x="6199632" y="1920240"/>
            <a:ext cx="5212080" cy="228600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1920240"/>
            <a:ext cx="54864" cy="2286000"/>
          </a:xfrm>
          <a:prstGeom prst="rect">
            <a:avLst/>
          </a:prstGeom>
          <a:solidFill>
            <a:srgbClr val="D8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2084832"/>
            <a:ext cx="475488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What I found</a:t>
            </a:r>
          </a:p>
        </p:txBody>
      </p:sp>
      <p:sp>
        <p:nvSpPr>
          <p:cNvPr id="12" name="TextBox 11"/>
          <p:cNvSpPr txBox="1"/>
          <p:nvPr/>
        </p:nvSpPr>
        <p:spPr>
          <a:xfrm>
            <a:off x="6455664" y="2487168"/>
            <a:ext cx="4754880" cy="160020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5B6B78"/>
                </a:solidFill>
                <a:latin typeface="Calibri"/>
              </a:rPr>
              <a:t>Restarting the fit from different guesses lands on </a:t>
            </a:r>
            <a:r>
              <a:rPr sz="1300" b="1" i="0">
                <a:solidFill>
                  <a:srgbClr val="16232F"/>
                </a:solidFill>
                <a:latin typeface="Calibri"/>
              </a:rPr>
              <a:t>different</a:t>
            </a:r>
            <a:r>
              <a:rPr sz="1300" b="0" i="0">
                <a:solidFill>
                  <a:srgbClr val="5B6B78"/>
                </a:solidFill>
                <a:latin typeface="Calibri"/>
              </a:rPr>
              <a:t> knob combinations that all fit almost equally well. k_1 ranged 3–17×; several knobs trade off against each other.</a:t>
            </a:r>
          </a:p>
        </p:txBody>
      </p:sp>
      <p:sp>
        <p:nvSpPr>
          <p:cNvPr id="13" name="Rounded Rectangle 12"/>
          <p:cNvSpPr/>
          <p:nvPr/>
        </p:nvSpPr>
        <p:spPr>
          <a:xfrm>
            <a:off x="777240" y="4526280"/>
            <a:ext cx="10634472" cy="141732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4526280"/>
            <a:ext cx="54864" cy="1417320"/>
          </a:xfrm>
          <a:prstGeom prst="rect">
            <a:avLst/>
          </a:prstGeom>
          <a:solidFill>
            <a:srgbClr val="D85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709160"/>
            <a:ext cx="10149840" cy="1097280"/>
          </a:xfrm>
          <a:prstGeom prst="rect">
            <a:avLst/>
          </a:prstGeom>
          <a:noFill/>
        </p:spPr>
        <p:txBody>
          <a:bodyPr wrap="square" anchor="t" lIns="0" rIns="0" tIns="0" bIns="0">
            <a:spAutoFit/>
          </a:bodyPr>
          <a:lstStyle/>
          <a:p>
            <a:pPr algn="l">
              <a:lnSpc>
                <a:spcPct val="120000"/>
              </a:lnSpc>
              <a:spcBef>
                <a:spcPts val="0"/>
              </a:spcBef>
              <a:spcAft>
                <a:spcPts val="600"/>
              </a:spcAft>
            </a:pPr>
            <a:r>
              <a:rPr sz="1400" b="1" i="0">
                <a:solidFill>
                  <a:srgbClr val="D8503A"/>
                </a:solidFill>
                <a:latin typeface="Calibri"/>
              </a:rPr>
              <a:t>Why: </a:t>
            </a:r>
            <a:r>
              <a:rPr sz="1350" b="0" i="0">
                <a:solidFill>
                  <a:srgbClr val="5B6B78"/>
                </a:solidFill>
                <a:latin typeface="Calibri"/>
              </a:rPr>
              <a:t>the 6-state model has more knobs than a single heartbeat can pin down — like two unknowns and one equation. This is the </a:t>
            </a:r>
            <a:r>
              <a:rPr sz="1350" b="1" i="0">
                <a:solidFill>
                  <a:srgbClr val="16232F"/>
                </a:solidFill>
                <a:latin typeface="Calibri"/>
              </a:rPr>
              <a:t>real headline</a:t>
            </a:r>
            <a:r>
              <a:rPr sz="1350" b="0" i="0">
                <a:solidFill>
                  <a:srgbClr val="5B6B78"/>
                </a:solidFill>
                <a:latin typeface="Calibri"/>
              </a:rPr>
              <a:t>: I can't responsibly report a single HCM driver yet.</a:t>
            </a:r>
          </a:p>
        </p:txBody>
      </p:sp>
      <p:sp>
        <p:nvSpPr>
          <p:cNvPr id="16" name="Rectangle 15"/>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08 </a:t>
            </a:r>
            <a:r>
              <a:rPr sz="1100" b="0" i="0">
                <a:solidFill>
                  <a:srgbClr val="5B6B78"/>
                </a:solidFill>
                <a:latin typeface="Calibri"/>
              </a:rPr>
              <a:t>/ 10</a:t>
            </a:r>
          </a:p>
        </p:txBody>
      </p:sp>
      <p:sp>
        <p:nvSpPr>
          <p:cNvPr id="18" name="TextBox 17"/>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1F4"/>
        </a:solidFill>
        <a:effectLst/>
      </p:bgPr>
    </p:bg>
    <p:spTree>
      <p:nvGrpSpPr>
        <p:cNvPr id="1" name=""/>
        <p:cNvGrpSpPr/>
        <p:nvPr/>
      </p:nvGrpSpPr>
      <p:grpSpPr/>
      <p:sp>
        <p:nvSpPr>
          <p:cNvPr id="2" name="Rounded Rectangle 1"/>
          <p:cNvSpPr/>
          <p:nvPr/>
        </p:nvSpPr>
        <p:spPr>
          <a:xfrm>
            <a:off x="502920" y="502920"/>
            <a:ext cx="146304" cy="384048"/>
          </a:xfrm>
          <a:prstGeom prst="round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881360" cy="365760"/>
          </a:xfrm>
          <a:prstGeom prst="rect">
            <a:avLst/>
          </a:prstGeom>
          <a:noFill/>
        </p:spPr>
        <p:txBody>
          <a:bodyPr wrap="square" anchor="t" lIns="0" rIns="0" tIns="0" bIns="0">
            <a:spAutoFit/>
          </a:bodyPr>
          <a:lstStyle/>
          <a:p>
            <a:pPr algn="l">
              <a:lnSpc>
                <a:spcPct val="105000"/>
              </a:lnSpc>
              <a:spcBef>
                <a:spcPts val="0"/>
              </a:spcBef>
              <a:spcAft>
                <a:spcPts val="600"/>
              </a:spcAft>
            </a:pPr>
            <a:r>
              <a:rPr sz="1100" b="1" i="0">
                <a:solidFill>
                  <a:srgbClr val="0F7D7D"/>
                </a:solidFill>
                <a:latin typeface="Calibri"/>
              </a:rPr>
              <a:t>WHERE THIS GOES NEXT</a:t>
            </a:r>
          </a:p>
        </p:txBody>
      </p:sp>
      <p:sp>
        <p:nvSpPr>
          <p:cNvPr id="4" name="TextBox 3"/>
          <p:cNvSpPr txBox="1"/>
          <p:nvPr/>
        </p:nvSpPr>
        <p:spPr>
          <a:xfrm>
            <a:off x="749808" y="786384"/>
            <a:ext cx="10881360" cy="1005840"/>
          </a:xfrm>
          <a:prstGeom prst="rect">
            <a:avLst/>
          </a:prstGeom>
          <a:noFill/>
        </p:spPr>
        <p:txBody>
          <a:bodyPr wrap="square" anchor="t" lIns="0" rIns="0" tIns="0" bIns="0">
            <a:spAutoFit/>
          </a:bodyPr>
          <a:lstStyle/>
          <a:p>
            <a:pPr algn="l">
              <a:lnSpc>
                <a:spcPct val="100000"/>
              </a:lnSpc>
              <a:spcBef>
                <a:spcPts val="0"/>
              </a:spcBef>
              <a:spcAft>
                <a:spcPts val="600"/>
              </a:spcAft>
            </a:pPr>
            <a:r>
              <a:rPr sz="3000" b="1" i="0">
                <a:solidFill>
                  <a:srgbClr val="16232F"/>
                </a:solidFill>
                <a:latin typeface="Calibri"/>
              </a:rPr>
              <a:t>Takeaways &amp; the plan</a:t>
            </a:r>
          </a:p>
        </p:txBody>
      </p:sp>
      <p:sp>
        <p:nvSpPr>
          <p:cNvPr id="5" name="Rounded Rectangle 4"/>
          <p:cNvSpPr/>
          <p:nvPr/>
        </p:nvSpPr>
        <p:spPr>
          <a:xfrm>
            <a:off x="777240" y="1874519"/>
            <a:ext cx="5257800" cy="292608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874519"/>
            <a:ext cx="54864" cy="2926080"/>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2039111"/>
            <a:ext cx="480060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What's solid</a:t>
            </a:r>
          </a:p>
        </p:txBody>
      </p:sp>
      <p:sp>
        <p:nvSpPr>
          <p:cNvPr id="8" name="TextBox 7"/>
          <p:cNvSpPr txBox="1"/>
          <p:nvPr/>
        </p:nvSpPr>
        <p:spPr>
          <a:xfrm>
            <a:off x="1033272" y="2441447"/>
            <a:ext cx="4800600" cy="224028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5B6B78"/>
                </a:solidFill>
                <a:latin typeface="Calibri"/>
              </a:rPr>
              <a:t>• 6-state model fits both conditions best (error &lt; 0.006).</a:t>
            </a:r>
          </a:p>
          <a:p>
            <a:pPr algn="l">
              <a:lnSpc>
                <a:spcPct val="108000"/>
              </a:lnSpc>
              <a:spcBef>
                <a:spcPts val="0"/>
              </a:spcBef>
              <a:spcAft>
                <a:spcPts val="400"/>
              </a:spcAft>
            </a:pPr>
            <a:r>
              <a:rPr sz="1300" b="0" i="0">
                <a:solidFill>
                  <a:srgbClr val="5B6B78"/>
                </a:solidFill>
                <a:latin typeface="Calibri"/>
              </a:rPr>
              <a:t>• Physics foundation now correct (titin, length, snap-back).</a:t>
            </a:r>
          </a:p>
          <a:p>
            <a:pPr algn="l">
              <a:lnSpc>
                <a:spcPct val="108000"/>
              </a:lnSpc>
              <a:spcBef>
                <a:spcPts val="0"/>
              </a:spcBef>
              <a:spcAft>
                <a:spcPts val="400"/>
              </a:spcAft>
            </a:pPr>
            <a:r>
              <a:rPr sz="1300" b="0" i="0">
                <a:solidFill>
                  <a:srgbClr val="5B6B78"/>
                </a:solidFill>
                <a:latin typeface="Calibri"/>
              </a:rPr>
              <a:t>• Every knob's role mapped; k_7_1 = relaxation control.</a:t>
            </a:r>
          </a:p>
        </p:txBody>
      </p:sp>
      <p:sp>
        <p:nvSpPr>
          <p:cNvPr id="9" name="Rounded Rectangle 8"/>
          <p:cNvSpPr/>
          <p:nvPr/>
        </p:nvSpPr>
        <p:spPr>
          <a:xfrm>
            <a:off x="6199632" y="1874519"/>
            <a:ext cx="5212080" cy="2926080"/>
          </a:xfrm>
          <a:prstGeom prst="roundRect">
            <a:avLst/>
          </a:prstGeom>
          <a:solidFill>
            <a:srgbClr val="FFFFFF"/>
          </a:solidFill>
          <a:ln w="12700">
            <a:solidFill>
              <a:srgbClr val="D6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99632" y="1874519"/>
            <a:ext cx="54864" cy="2926080"/>
          </a:xfrm>
          <a:prstGeom prst="rect">
            <a:avLst/>
          </a:prstGeom>
          <a:solidFill>
            <a:srgbClr val="0F7D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2039111"/>
            <a:ext cx="4754880" cy="365760"/>
          </a:xfrm>
          <a:prstGeom prst="rect">
            <a:avLst/>
          </a:prstGeom>
          <a:noFill/>
        </p:spPr>
        <p:txBody>
          <a:bodyPr wrap="square" anchor="t" lIns="0" rIns="0" tIns="0" bIns="0">
            <a:spAutoFit/>
          </a:bodyPr>
          <a:lstStyle/>
          <a:p>
            <a:pPr algn="l">
              <a:lnSpc>
                <a:spcPct val="105000"/>
              </a:lnSpc>
              <a:spcBef>
                <a:spcPts val="0"/>
              </a:spcBef>
              <a:spcAft>
                <a:spcPts val="600"/>
              </a:spcAft>
            </a:pPr>
            <a:r>
              <a:rPr sz="1500" b="1" i="0">
                <a:solidFill>
                  <a:srgbClr val="16232F"/>
                </a:solidFill>
                <a:latin typeface="Calibri"/>
              </a:rPr>
              <a:t>Next steps</a:t>
            </a:r>
          </a:p>
        </p:txBody>
      </p:sp>
      <p:sp>
        <p:nvSpPr>
          <p:cNvPr id="12" name="TextBox 11"/>
          <p:cNvSpPr txBox="1"/>
          <p:nvPr/>
        </p:nvSpPr>
        <p:spPr>
          <a:xfrm>
            <a:off x="6455664" y="2441447"/>
            <a:ext cx="4754880" cy="2240280"/>
          </a:xfrm>
          <a:prstGeom prst="rect">
            <a:avLst/>
          </a:prstGeom>
          <a:noFill/>
        </p:spPr>
        <p:txBody>
          <a:bodyPr wrap="square" anchor="t" lIns="0" rIns="0" tIns="0" bIns="0">
            <a:spAutoFit/>
          </a:bodyPr>
          <a:lstStyle/>
          <a:p>
            <a:pPr algn="l">
              <a:lnSpc>
                <a:spcPct val="108000"/>
              </a:lnSpc>
              <a:spcBef>
                <a:spcPts val="0"/>
              </a:spcBef>
              <a:spcAft>
                <a:spcPts val="400"/>
              </a:spcAft>
            </a:pPr>
            <a:r>
              <a:rPr sz="1300" b="0" i="0">
                <a:solidFill>
                  <a:srgbClr val="5B6B78"/>
                </a:solidFill>
                <a:latin typeface="Calibri"/>
              </a:rPr>
              <a:t>• Run many restarts on a computing cluster to test identifiability.</a:t>
            </a:r>
          </a:p>
          <a:p>
            <a:pPr algn="l">
              <a:lnSpc>
                <a:spcPct val="108000"/>
              </a:lnSpc>
              <a:spcBef>
                <a:spcPts val="0"/>
              </a:spcBef>
              <a:spcAft>
                <a:spcPts val="400"/>
              </a:spcAft>
            </a:pPr>
            <a:r>
              <a:rPr sz="1300" b="0" i="0">
                <a:solidFill>
                  <a:srgbClr val="5B6B78"/>
                </a:solidFill>
                <a:latin typeface="Calibri"/>
              </a:rPr>
              <a:t>• Add constraints / more data to narrow the HCM driver.</a:t>
            </a:r>
          </a:p>
          <a:p>
            <a:pPr algn="l">
              <a:lnSpc>
                <a:spcPct val="108000"/>
              </a:lnSpc>
              <a:spcBef>
                <a:spcPts val="0"/>
              </a:spcBef>
              <a:spcAft>
                <a:spcPts val="400"/>
              </a:spcAft>
            </a:pPr>
            <a:r>
              <a:rPr sz="1300" b="0" i="0">
                <a:solidFill>
                  <a:srgbClr val="5B6B78"/>
                </a:solidFill>
                <a:latin typeface="Calibri"/>
              </a:rPr>
              <a:t>• Only then hand a defensible number to Julia's heart model.</a:t>
            </a:r>
          </a:p>
        </p:txBody>
      </p:sp>
      <p:sp>
        <p:nvSpPr>
          <p:cNvPr id="13" name="Rounded Rectangle 12"/>
          <p:cNvSpPr/>
          <p:nvPr/>
        </p:nvSpPr>
        <p:spPr>
          <a:xfrm>
            <a:off x="777240" y="5074920"/>
            <a:ext cx="10634472" cy="868680"/>
          </a:xfrm>
          <a:prstGeom prst="roundRect">
            <a:avLst/>
          </a:prstGeom>
          <a:solidFill>
            <a:srgbClr val="E2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230368"/>
            <a:ext cx="10149840" cy="640080"/>
          </a:xfrm>
          <a:prstGeom prst="rect">
            <a:avLst/>
          </a:prstGeom>
          <a:noFill/>
        </p:spPr>
        <p:txBody>
          <a:bodyPr wrap="square" anchor="t" lIns="0" rIns="0" tIns="0" bIns="0">
            <a:spAutoFit/>
          </a:bodyPr>
          <a:lstStyle/>
          <a:p>
            <a:pPr algn="l">
              <a:lnSpc>
                <a:spcPct val="115000"/>
              </a:lnSpc>
              <a:spcBef>
                <a:spcPts val="0"/>
              </a:spcBef>
              <a:spcAft>
                <a:spcPts val="600"/>
              </a:spcAft>
            </a:pPr>
            <a:r>
              <a:rPr sz="1350" b="1" i="0">
                <a:solidFill>
                  <a:srgbClr val="0F7D7D"/>
                </a:solidFill>
                <a:latin typeface="Calibri"/>
              </a:rPr>
              <a:t>Bottom line: </a:t>
            </a:r>
            <a:r>
              <a:rPr sz="1350" b="0" i="0">
                <a:solidFill>
                  <a:srgbClr val="16232F"/>
                </a:solidFill>
                <a:latin typeface="Calibri"/>
              </a:rPr>
              <a:t>the model is finally trustworthy, the physics is right, and I know precisely what question to attack next.</a:t>
            </a:r>
          </a:p>
        </p:txBody>
      </p:sp>
      <p:sp>
        <p:nvSpPr>
          <p:cNvPr id="15" name="Rectangle 14"/>
          <p:cNvSpPr/>
          <p:nvPr/>
        </p:nvSpPr>
        <p:spPr>
          <a:xfrm>
            <a:off x="777240" y="6382512"/>
            <a:ext cx="10634472" cy="15240"/>
          </a:xfrm>
          <a:prstGeom prst="rect">
            <a:avLst/>
          </a:prstGeom>
          <a:solidFill>
            <a:srgbClr val="D6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6455664"/>
            <a:ext cx="3657600" cy="274320"/>
          </a:xfrm>
          <a:prstGeom prst="rect">
            <a:avLst/>
          </a:prstGeom>
          <a:noFill/>
        </p:spPr>
        <p:txBody>
          <a:bodyPr wrap="square" anchor="t" lIns="0" rIns="0" tIns="0" bIns="0">
            <a:spAutoFit/>
          </a:bodyPr>
          <a:lstStyle/>
          <a:p>
            <a:pPr algn="l">
              <a:lnSpc>
                <a:spcPct val="105000"/>
              </a:lnSpc>
              <a:spcBef>
                <a:spcPts val="0"/>
              </a:spcBef>
              <a:spcAft>
                <a:spcPts val="600"/>
              </a:spcAft>
            </a:pPr>
            <a:r>
              <a:rPr sz="1300" b="1" i="0">
                <a:solidFill>
                  <a:srgbClr val="0F7D7D"/>
                </a:solidFill>
                <a:latin typeface="Calibri"/>
              </a:rPr>
              <a:t>09 </a:t>
            </a:r>
            <a:r>
              <a:rPr sz="1100" b="0" i="0">
                <a:solidFill>
                  <a:srgbClr val="5B6B78"/>
                </a:solidFill>
                <a:latin typeface="Calibri"/>
              </a:rPr>
              <a:t>/ 10</a:t>
            </a:r>
          </a:p>
        </p:txBody>
      </p:sp>
      <p:sp>
        <p:nvSpPr>
          <p:cNvPr id="17" name="TextBox 16"/>
          <p:cNvSpPr txBox="1"/>
          <p:nvPr/>
        </p:nvSpPr>
        <p:spPr>
          <a:xfrm>
            <a:off x="7772400" y="6473952"/>
            <a:ext cx="3639312" cy="274320"/>
          </a:xfrm>
          <a:prstGeom prst="rect">
            <a:avLst/>
          </a:prstGeom>
          <a:noFill/>
        </p:spPr>
        <p:txBody>
          <a:bodyPr wrap="square" anchor="t" lIns="0" rIns="0" tIns="0" bIns="0">
            <a:spAutoFit/>
          </a:bodyPr>
          <a:lstStyle/>
          <a:p>
            <a:pPr algn="r">
              <a:lnSpc>
                <a:spcPct val="105000"/>
              </a:lnSpc>
              <a:spcBef>
                <a:spcPts val="0"/>
              </a:spcBef>
              <a:spcAft>
                <a:spcPts val="600"/>
              </a:spcAft>
            </a:pPr>
            <a:r>
              <a:rPr sz="900" b="0" i="0">
                <a:solidFill>
                  <a:srgbClr val="5B6B78"/>
                </a:solidFill>
                <a:latin typeface="Calibri"/>
              </a:rPr>
              <a:t>HCM CROSSBRIDGE MODELING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
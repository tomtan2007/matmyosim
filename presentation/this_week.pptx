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46304" cy="384048"/>
          </a:xfrm>
          <a:prstGeom prst="roundRect">
            <a:avLst>
              <a:gd name="adj" fmla="val 6000"/>
            </a:avLst>
          </a:prstGeom>
          <a:solidFill>
            <a:srgbClr val="0F7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D7D"/>
                </a:solidFill>
                <a:latin typeface="Calibri"/>
              </a:rPr>
              <a:t>JULY 30 · TESTING WHETHER THE MODEL CAN BE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8503A"/>
                </a:solidFill>
                <a:latin typeface="Calibri"/>
              </a:rPr>
              <a:t>Built a joint fit to force control and HCM to agree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54864" cy="2286000"/>
          </a:xfrm>
          <a:prstGeom prst="rect">
            <a:avLst/>
          </a:prstGeom>
          <a:solidFill>
            <a:srgbClr val="0F7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084832"/>
            <a:ext cx="4745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232F"/>
                </a:solidFill>
                <a:latin typeface="Calibr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487168"/>
            <a:ext cx="47457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8"/>
                </a:solidFill>
                <a:latin typeface="Calibri"/>
              </a:rPr>
              <a:t>Last week's problem: restarting the HCM fit from </a:t>
            </a:r>
            <a:r>
              <a:rPr sz="1300" b="1">
                <a:solidFill>
                  <a:srgbClr val="16232F"/>
                </a:solidFill>
                <a:latin typeface="Calibri"/>
              </a:rPr>
              <a:t>different guesses</a:t>
            </a:r>
            <a:r>
              <a:rPr sz="1300" b="0">
                <a:solidFill>
                  <a:srgbClr val="5B6B78"/>
                </a:solidFill>
                <a:latin typeface="Calibri"/>
              </a:rPr>
              <a:t> landed on totally different “which knob changed” stories.</a:t>
            </a:r>
          </a:p>
          <a:p>
            <a:pPr algn="l"/>
            <a:r>
              <a:rPr sz="600" b="0">
                <a:solidFill>
                  <a:srgbClr val="5B6B78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5B6B78"/>
                </a:solidFill>
                <a:latin typeface="Calibri"/>
              </a:rPr>
              <a:t>This week I built a </a:t>
            </a:r>
            <a:r>
              <a:rPr sz="1300" b="1">
                <a:solidFill>
                  <a:srgbClr val="16232F"/>
                </a:solidFill>
                <a:latin typeface="Calibri"/>
              </a:rPr>
              <a:t>joint fit</a:t>
            </a:r>
            <a:r>
              <a:rPr sz="1300" b="0">
                <a:solidFill>
                  <a:srgbClr val="5B6B78"/>
                </a:solidFill>
                <a:latin typeface="Calibri"/>
              </a:rPr>
              <a:t>: control and HCM are fit </a:t>
            </a:r>
            <a:r>
              <a:rPr sz="1300" b="1">
                <a:solidFill>
                  <a:srgbClr val="16232F"/>
                </a:solidFill>
                <a:latin typeface="Calibri"/>
              </a:rPr>
              <a:t>at the same time</a:t>
            </a:r>
            <a:r>
              <a:rPr sz="1300" b="0">
                <a:solidFill>
                  <a:srgbClr val="5B6B78"/>
                </a:solidFill>
                <a:latin typeface="Calibri"/>
              </a:rPr>
              <a:t>, sharing 7 of 10 knobs. Only 3 (</a:t>
            </a:r>
            <a:r>
              <a:rPr sz="1300" b="1">
                <a:solidFill>
                  <a:srgbClr val="16232F"/>
                </a:solidFill>
                <a:latin typeface="Calibri"/>
              </a:rPr>
              <a:t>k_1, k_5_0, k_4_0</a:t>
            </a:r>
            <a:r>
              <a:rPr sz="1300" b="0">
                <a:solidFill>
                  <a:srgbClr val="5B6B78"/>
                </a:solidFill>
                <a:latin typeface="Calibri"/>
              </a:rPr>
              <a:t>) are allowed to differ between conditions — the direct computational version of “HCM = a few things changed.”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92024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920240"/>
            <a:ext cx="54864" cy="2286000"/>
          </a:xfrm>
          <a:prstGeom prst="rect">
            <a:avLst/>
          </a:prstGeom>
          <a:solidFill>
            <a:srgbClr val="D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2084832"/>
            <a:ext cx="4700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232F"/>
                </a:solidFill>
                <a:latin typeface="Calibri"/>
              </a:rPr>
              <a:t>The stress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487168"/>
            <a:ext cx="47000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8"/>
                </a:solidFill>
                <a:latin typeface="Calibri"/>
              </a:rPr>
              <a:t>Ran it </a:t>
            </a:r>
            <a:r>
              <a:rPr sz="1300" b="1">
                <a:solidFill>
                  <a:srgbClr val="16232F"/>
                </a:solidFill>
                <a:latin typeface="Calibri"/>
              </a:rPr>
              <a:t>4 independent times</a:t>
            </a:r>
            <a:r>
              <a:rPr sz="1300" b="0">
                <a:solidFill>
                  <a:srgbClr val="5B6B78"/>
                </a:solidFill>
                <a:latin typeface="Calibri"/>
              </a:rPr>
              <a:t> from different/adversarial starting points, plus a </a:t>
            </a:r>
            <a:r>
              <a:rPr sz="1300" b="1">
                <a:solidFill>
                  <a:srgbClr val="16232F"/>
                </a:solidFill>
                <a:latin typeface="Calibri"/>
              </a:rPr>
              <a:t>profile-likelihood scan</a:t>
            </a:r>
            <a:r>
              <a:rPr sz="1300" b="0">
                <a:solidFill>
                  <a:srgbClr val="5B6B78"/>
                </a:solidFill>
                <a:latin typeface="Calibri"/>
              </a:rPr>
              <a:t> — lock one knob (k_1) at a fixed value, let the fit re-optimize everything else, repeat across a range.</a:t>
            </a:r>
          </a:p>
          <a:p>
            <a:pPr algn="l"/>
            <a:r>
              <a:rPr sz="600" b="0">
                <a:solidFill>
                  <a:srgbClr val="5B6B78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5B6B78"/>
                </a:solidFill>
                <a:latin typeface="Calibri"/>
              </a:rPr>
              <a:t>This directly answers: is there a </a:t>
            </a:r>
            <a:r>
              <a:rPr sz="1300" b="1">
                <a:solidFill>
                  <a:srgbClr val="16232F"/>
                </a:solidFill>
                <a:latin typeface="Calibri"/>
              </a:rPr>
              <a:t>real single best answer</a:t>
            </a:r>
            <a:r>
              <a:rPr sz="1300" b="0">
                <a:solidFill>
                  <a:srgbClr val="5B6B78"/>
                </a:solidFill>
                <a:latin typeface="Calibri"/>
              </a:rPr>
              <a:t> the fit keeps missing, or is the question itself genuinely unanswerable from one heartbeat of data?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80000"/>
            <a:ext cx="10634472" cy="1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ofile_likelih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761" y="4562880"/>
            <a:ext cx="2003430" cy="1214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33272" y="5868520"/>
            <a:ext cx="10122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B78"/>
                </a:solidFill>
                <a:latin typeface="Calibri"/>
              </a:rPr>
              <a:t>Locking k_1 and re-fitting everything else reveals a real dip near k_1≈5 — not a flat, unanswerable curve, and not noise.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6382512"/>
            <a:ext cx="10634472" cy="15240"/>
          </a:xfrm>
          <a:prstGeom prst="rect">
            <a:avLst/>
          </a:prstGeom>
          <a:solidFill>
            <a:srgbClr val="D6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556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D7D"/>
                </a:solidFill>
                <a:latin typeface="Calibri"/>
              </a:rPr>
              <a:t>1  </a:t>
            </a:r>
            <a:r>
              <a:rPr sz="1100" b="0">
                <a:solidFill>
                  <a:srgbClr val="5B6B78"/>
                </a:solidFill>
                <a:latin typeface="Calibri"/>
              </a:rPr>
              <a:t>/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73952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8"/>
                </a:solidFill>
                <a:latin typeface="Calibri"/>
              </a:rPr>
              <a:t>HCM CROSSBRIDGE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46304" cy="384048"/>
          </a:xfrm>
          <a:prstGeom prst="roundRect">
            <a:avLst>
              <a:gd name="adj" fmla="val 6000"/>
            </a:avLst>
          </a:prstGeom>
          <a:solidFill>
            <a:srgbClr val="0F7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D7D"/>
                </a:solidFill>
                <a:latin typeface="Calibri"/>
              </a:rPr>
              <a:t>JULY 30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7D7D"/>
                </a:solidFill>
                <a:latin typeface="Calibri"/>
              </a:rPr>
              <a:t>One signal survived every test — one didn't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6400000" cy="28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sin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230" y="2103120"/>
            <a:ext cx="5004020" cy="2484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50000" y="1920240"/>
            <a:ext cx="4061472" cy="900000"/>
          </a:xfrm>
          <a:prstGeom prst="roundRect">
            <a:avLst>
              <a:gd name="adj" fmla="val 6000"/>
            </a:avLst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78600" y="2020240"/>
            <a:ext cx="3604272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6232F"/>
                </a:solidFill>
                <a:latin typeface="Calibri"/>
              </a:rPr>
              <a:t>Power stroke rate up, detachment rate down — </a:t>
            </a:r>
            <a:r>
              <a:rPr sz="1250" b="1">
                <a:solidFill>
                  <a:srgbClr val="0F7D7D"/>
                </a:solidFill>
                <a:latin typeface="Calibri"/>
              </a:rPr>
              <a:t>direction never flipped</a:t>
            </a:r>
            <a:r>
              <a:rPr sz="1250" b="0">
                <a:solidFill>
                  <a:srgbClr val="5B6B78"/>
                </a:solidFill>
                <a:latin typeface="Calibri"/>
              </a:rPr>
              <a:t> across 4 independent restarts, including one that disagreed on everything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50000" y="2900000"/>
            <a:ext cx="4061472" cy="900000"/>
          </a:xfrm>
          <a:prstGeom prst="roundRect">
            <a:avLst>
              <a:gd name="adj" fmla="val 6000"/>
            </a:avLst>
          </a:prstGeom>
          <a:solidFill>
            <a:srgbClr val="FB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8600" y="3000000"/>
            <a:ext cx="3604272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6232F"/>
                </a:solidFill>
                <a:latin typeface="Calibri"/>
              </a:rPr>
              <a:t>k_1 (SRX exit rate) is </a:t>
            </a:r>
            <a:r>
              <a:rPr sz="1250" b="1">
                <a:solidFill>
                  <a:srgbClr val="D8503A"/>
                </a:solidFill>
                <a:latin typeface="Calibri"/>
              </a:rPr>
              <a:t>not resolved</a:t>
            </a:r>
            <a:r>
              <a:rPr sz="1250" b="0">
                <a:solidFill>
                  <a:srgbClr val="5B6B78"/>
                </a:solidFill>
                <a:latin typeface="Calibri"/>
              </a:rPr>
              <a:t>: two good-error basins say HCM's k_1 isn't elevated; a third, only slightly worse basin says it's 48× higher.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0000" y="3880000"/>
            <a:ext cx="4061472" cy="890000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78600" y="3980000"/>
            <a:ext cx="3604272" cy="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8"/>
                </a:solidFill>
                <a:latin typeface="Calibri"/>
              </a:rPr>
              <a:t>Also found: a bound on one parameter (k_coop) is pinned at its ceiling in 3 of 4 runs — may be hiding part of the real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930000"/>
            <a:ext cx="10634472" cy="13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930000"/>
            <a:ext cx="54864" cy="1350000"/>
          </a:xfrm>
          <a:prstGeom prst="rect">
            <a:avLst/>
          </a:prstGeom>
          <a:solidFill>
            <a:srgbClr val="0F7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5094592"/>
            <a:ext cx="10122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232F"/>
                </a:solidFill>
                <a:latin typeface="Calibri"/>
              </a:rPr>
              <a:t>Bottom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5496928"/>
            <a:ext cx="10122408" cy="61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8"/>
                </a:solidFill>
                <a:latin typeface="Calibri"/>
              </a:rPr>
              <a:t>Not ready to hand Julia a single number yet. But for the first time, </a:t>
            </a:r>
            <a:r>
              <a:rPr sz="1300" b="1">
                <a:solidFill>
                  <a:srgbClr val="16232F"/>
                </a:solidFill>
                <a:latin typeface="Calibri"/>
              </a:rPr>
              <a:t>something survived adversarial testing</a:t>
            </a:r>
            <a:r>
              <a:rPr sz="1300" b="0">
                <a:solidFill>
                  <a:srgbClr val="5B6B78"/>
                </a:solidFill>
                <a:latin typeface="Calibri"/>
              </a:rPr>
              <a:t> — that's real progress on a question that looked unanswerable last week. Next: widen the k_coop bound and re-test.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382512"/>
            <a:ext cx="10634472" cy="15240"/>
          </a:xfrm>
          <a:prstGeom prst="rect">
            <a:avLst/>
          </a:prstGeom>
          <a:solidFill>
            <a:srgbClr val="D6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4556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D7D"/>
                </a:solidFill>
                <a:latin typeface="Calibri"/>
              </a:rPr>
              <a:t>2  </a:t>
            </a:r>
            <a:r>
              <a:rPr sz="1100" b="0">
                <a:solidFill>
                  <a:srgbClr val="5B6B78"/>
                </a:solidFill>
                <a:latin typeface="Calibri"/>
              </a:rPr>
              <a:t>/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473952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8"/>
                </a:solidFill>
                <a:latin typeface="Calibri"/>
              </a:rPr>
              <a:t>HCM CROSSBRIDGE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46304" cy="384048"/>
          </a:xfrm>
          <a:prstGeom prst="roundRect">
            <a:avLst>
              <a:gd name="adj" fmla="val 6000"/>
            </a:avLst>
          </a:prstGeom>
          <a:solidFill>
            <a:srgbClr val="D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503A"/>
                </a:solidFill>
                <a:latin typeface="Calibri"/>
              </a:rPr>
              <a:t>PUBLISHED REFERENCE · SYSTEMS BIOLOGY, NOT CARDIAC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8503A"/>
                </a:solidFill>
                <a:latin typeface="Calibri"/>
              </a:rPr>
              <a:t>Our problem has a name: “sloppy”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6650000" cy="4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oppiness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75" y="2103120"/>
            <a:ext cx="5799530" cy="3614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3272" y="5808760"/>
            <a:ext cx="6137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B78"/>
                </a:solidFill>
                <a:latin typeface="Calibri"/>
              </a:rPr>
              <a:t>Our own 30-restart spread, re-plotted parameter by parameter. No clean split between “good” and “bad” knobs — a smooth ramp, the signature Gutenkunst et al. describe.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50000" y="1920240"/>
            <a:ext cx="3761472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50000" y="1920240"/>
            <a:ext cx="54864" cy="2050000"/>
          </a:xfrm>
          <a:prstGeom prst="rect">
            <a:avLst/>
          </a:prstGeom>
          <a:solidFill>
            <a:srgbClr val="0F7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6032" y="2084832"/>
            <a:ext cx="3249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232F"/>
                </a:solidFill>
                <a:latin typeface="Calibri"/>
              </a:rPr>
              <a:t>The 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6032" y="2487168"/>
            <a:ext cx="3249408" cy="131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B78"/>
                </a:solidFill>
                <a:latin typeface="Calibri"/>
              </a:rPr>
              <a:t>Gutenkunst et al. 2007, </a:t>
            </a:r>
            <a:r>
              <a:rPr sz="1250" b="1">
                <a:solidFill>
                  <a:srgbClr val="16232F"/>
                </a:solidFill>
                <a:latin typeface="Calibri"/>
              </a:rPr>
              <a:t>PLoS Comp. Biol.</a:t>
            </a:r>
            <a:r>
              <a:rPr sz="1250" b="0">
                <a:solidFill>
                  <a:srgbClr val="5B6B78"/>
                </a:solidFill>
                <a:latin typeface="Calibri"/>
              </a:rPr>
              <a:t> — tested 17 unrelated systems-biology ODE models (metabolic, signaling, developmental — no myosin, no cardiac).</a:t>
            </a:r>
          </a:p>
          <a:p>
            <a:pPr algn="l"/>
            <a:r>
              <a:rPr sz="600" b="0">
                <a:solidFill>
                  <a:srgbClr val="5B6B78"/>
                </a:solidFill>
                <a:latin typeface="Calibri"/>
              </a:rPr>
              <a:t/>
            </a:r>
          </a:p>
          <a:p>
            <a:pPr algn="l"/>
            <a:r>
              <a:rPr sz="1250" b="1">
                <a:solidFill>
                  <a:srgbClr val="D8503A"/>
                </a:solidFill>
                <a:latin typeface="Calibri"/>
              </a:rPr>
              <a:t>Every single one</a:t>
            </a:r>
            <a:r>
              <a:rPr sz="1250" b="0">
                <a:solidFill>
                  <a:srgbClr val="5B6B78"/>
                </a:solidFill>
                <a:latin typeface="Calibri"/>
              </a:rPr>
              <a:t> showed the same shape: a few tightly-constrained parameter combinations, most individual parameters barely constrained — even though the model fits data well.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50000" y="4090000"/>
            <a:ext cx="3761472" cy="21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50000" y="4090000"/>
            <a:ext cx="54864" cy="2130000"/>
          </a:xfrm>
          <a:prstGeom prst="rect">
            <a:avLst/>
          </a:prstGeom>
          <a:solidFill>
            <a:srgbClr val="D8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6032" y="4254592"/>
            <a:ext cx="3249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232F"/>
                </a:solidFill>
                <a:latin typeface="Calibri"/>
              </a:rPr>
              <a:t>Why this matters for 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6032" y="4656928"/>
            <a:ext cx="3249408" cy="1398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B78"/>
                </a:solidFill>
                <a:latin typeface="Calibri"/>
              </a:rPr>
              <a:t>This reframes this week's result: it's </a:t>
            </a:r>
            <a:r>
              <a:rPr sz="1250" b="1">
                <a:solidFill>
                  <a:srgbClr val="16232F"/>
                </a:solidFill>
                <a:latin typeface="Calibri"/>
              </a:rPr>
              <a:t>not a bug in our fitting</a:t>
            </a:r>
            <a:r>
              <a:rPr sz="1250" b="0">
                <a:solidFill>
                  <a:srgbClr val="5B6B78"/>
                </a:solidFill>
                <a:latin typeface="Calibri"/>
              </a:rPr>
              <a:t>, it's the </a:t>
            </a:r>
            <a:r>
              <a:rPr sz="1250" b="1">
                <a:solidFill>
                  <a:srgbClr val="0F7D7D"/>
                </a:solidFill>
                <a:latin typeface="Calibri"/>
              </a:rPr>
              <a:t>expected shape</a:t>
            </a:r>
            <a:r>
              <a:rPr sz="1250" b="0">
                <a:solidFill>
                  <a:srgbClr val="5B6B78"/>
                </a:solidFill>
                <a:latin typeface="Calibri"/>
              </a:rPr>
              <a:t> for a model like ours.</a:t>
            </a:r>
          </a:p>
          <a:p>
            <a:pPr algn="l"/>
            <a:r>
              <a:rPr sz="600" b="0">
                <a:solidFill>
                  <a:srgbClr val="5B6B78"/>
                </a:solidFill>
                <a:latin typeface="Calibri"/>
              </a:rPr>
              <a:t/>
            </a:r>
          </a:p>
          <a:p>
            <a:pPr algn="l"/>
            <a:r>
              <a:rPr sz="1250" b="0">
                <a:solidFill>
                  <a:srgbClr val="5B6B78"/>
                </a:solidFill>
                <a:latin typeface="Calibri"/>
              </a:rPr>
              <a:t>Their advice: stop chasing individual parameters, chase the </a:t>
            </a:r>
            <a:r>
              <a:rPr sz="1250" b="1">
                <a:solidFill>
                  <a:srgbClr val="D8503A"/>
                </a:solidFill>
                <a:latin typeface="Calibri"/>
              </a:rPr>
              <a:t>stiff combinations</a:t>
            </a:r>
            <a:r>
              <a:rPr sz="1250" b="0">
                <a:solidFill>
                  <a:srgbClr val="5B6B78"/>
                </a:solidFill>
                <a:latin typeface="Calibri"/>
              </a:rPr>
              <a:t> — exactly what k_5_0/k_4_0's direction may be. Next: a real eigen-analysis of our own fit, not just CVs.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6382512"/>
            <a:ext cx="10634472" cy="15240"/>
          </a:xfrm>
          <a:prstGeom prst="rect">
            <a:avLst/>
          </a:prstGeom>
          <a:solidFill>
            <a:srgbClr val="D6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556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D7D"/>
                </a:solidFill>
                <a:latin typeface="Calibri"/>
              </a:rPr>
              <a:t>3  </a:t>
            </a:r>
            <a:r>
              <a:rPr sz="1100" b="0">
                <a:solidFill>
                  <a:srgbClr val="5B6B78"/>
                </a:solidFill>
                <a:latin typeface="Calibri"/>
              </a:rPr>
              <a:t>/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73952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B78"/>
                </a:solidFill>
                <a:latin typeface="Calibri"/>
              </a:rPr>
              <a:t>HCM CROSSBRIDGE 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